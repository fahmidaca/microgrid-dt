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Good [morning/afternoon]. This is our ICCIT 2026 submission: a Cyber-Resilient, Explainable Digital Twin Framework for Power Quality Management in Renewable Microgrids. It's a joint EEE and CSE project, combining a physics-based electrical simulation with a machine learning pipeline.</a:t>
            </a:r>
          </a:p>
          <a:p/>
          <a:p>
            <a:r>
              <a:t>[BN] শুভ [সকাল/বিকাল]। এটি আমাদের ICCIT 2026-এ জমা দেওয়া পেপার: রিনিউয়েবল মাইক্রোগ্রিডে পাওয়ার কোয়ালিটি ম্যানেজমেন্টের জন্য একটি Cyber-Resilient, Explainable Digital Twin Framework। এটি EEE এবং CSE-এর যৌথ প্রজেক্ট, যেখানে একটি physics-based electrical simulation-কে একটি machine learning pipeline-এর সাথে যুক্ত করা হয়েছে।</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Let's start with why this matters. In August 2026, Bangladesh's national electricity shortage jumped from 335 megawatts to over 2,100 megawatts in just three days, with a record shortfall of 2,500 megawatts. Rural areas saw up to 7 to 8 hours of load-shedding a day. But here's the key insight: this isn't a capacity problem. Our installed generation capacity, almost 29,000 megawatts, comfortably exceeds this year's peak demand of 18,500 megawatts. The real bottleneck is gas supply for running existing plants. Even the new Rooppur nuclear plant didn't prevent this year's crisis. So the problem is fuel logistics and dispatch reliability - which is exactly where decentralized renewable microgrids can help, if we can prove their power quality and cost are trustworthy.</a:t>
            </a:r>
          </a:p>
          <a:p/>
          <a:p>
            <a:r>
              <a:t>[BN] প্রথমে বলি কেন এই কাজটা গুরুত্বপূর্ণ। ২০২৬ সালের আগস্টে বাংলাদেশের জাতীয় বিদ্যুৎ ঘাটতি মাত্র তিন দিনে ৩৩৫ মেগাওয়াট থেকে বেড়ে ২,১০০ মেগাওয়াটের বেশি হয়ে যায়, রেকর্ড ঘাটতি ছিল ২,৫০০ মেগাওয়াট। গ্রামাঞ্চলে দিনে ৭-৮ ঘণ্টা পর্যন্ত লোডশেডিং হয়েছে। কিন্তু আসল বিষয় হলো - এটা generation capacity-র সমস্যা না। আমাদের installed capacity প্রায় ২৯,০০০ মেগাওয়াট, যা এই বছরের peak demand ১৮,৫০০ মেগাওয়াটের চেয়ে অনেক বেশি। আসল bottleneck হলো existing plant চালানোর জন্য গ্যাস সরবরাহ। এমনকি নতুন রূপপুর নিউক্লিয়ার প্ল্যান্টও এই বছরের crisis ঠেকাতে পারেনি। তাহলে সমস্যা হলো fuel logistics আর dispatch reliability - আর এখানেই decentralized renewable microgrid সাহায্য করতে পারে, যদি আমরা প্রমাণ করতে পারি এর power quality আর cost নির্ভরযোগ্য।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Existing power-quality monitoring systems have four gaps: they're reactive, they can't explain their decisions, they have no defense against corrupted sensor data, and they never connect a power problem to its actual cost. We address all four with five contributions: a physics-based digital twin validated against real HOMER data; an anomaly detector we specifically validated with a null-result control test; a disturbance classifier with SHAP explainability; a sim-to-real bridge proving our EEE and CSE halves work as one system; and two independent, uncertainty-quantified cost analyses plus external validation against a real overseas microgrid.</a:t>
            </a:r>
          </a:p>
          <a:p/>
          <a:p>
            <a:r>
              <a:t>[BN] বিদ্যমান power-quality monitoring সিস্টেমে চারটা gap আছে: এগুলো reactive, কেন একটা decision নিলো তা ব্যাখ্যা করতে পারে না, corrupted sensor data থেকে কোনো defense নাই, আর power problem-কে কখনো তার actual cost-এর সাথে যুক্ত করে না। আমরা পাঁচটা contribution দিয়ে এই চারটা gap address করেছি: real HOMER data দিয়ে validate করা একটা physics-based digital twin; একটা null-result control test দিয়ে specifically validate করা anomaly detector; SHAP explainability সহ disturbance classifier; একটা sim-to-real bridge যা প্রমাণ করে আমাদের EEE আর CSE অংশ একসাথে একটা সিস্টেম হিসেবে কাজ করে; আর দুইটা independent, uncertainty-quantified cost analysis, সাথে বিদেশের একটা real microgrid-এর বিপরীতে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Here's how the two halves fit together. On the EEE side, we model weather-driven solar output, a nonlinear load injecting harmonics, an active power filter, and an FFT-based THD analyzer. On the CSE side, we have an Isolation Forest for anomaly detection, a four-class disturbance classifier, and SHAP for explainability - both trained on the same real Jamalpur field dataset. We also use a real HOMER Pro annual simulation, 8,760 hours, to drive realistic operating conditions. The critical question we asked ourselves: do these two halves actually function as one system, or are they just two separate demos sitting next to each other? That's answered directly on slide 9.</a:t>
            </a:r>
          </a:p>
          <a:p/>
          <a:p>
            <a:r>
              <a:t>[BN] এই দুইটা অংশ কীভাবে একসাথে কাজ করে সেটা দেখাই। EEE সাইডে আমরা model করেছি weather-driven solar output, harmonics তৈরি করা একটা nonlinear load, একটা active power filter, আর FFT-based THD analyzer। CSE সাইডে আছে anomaly detection-এর জন্য Isolation Forest, একটা 4-class disturbance classifier, আর explainability-র জন্য SHAP - দুইটাই একই real Jamalpur field dataset দিয়ে train করা। আমরা real HOMER Pro-র একটা annual simulation ও ব্যবহার করেছি, ৮,৭৬০ ঘণ্টার data, realistic operating condition তৈরি করার জন্য। আমাদের নিজেদের কাছে সবচেয়ে বড় প্রশ্ন ছিল: এই দুইটা অংশ কি সত্যিই একটা সিস্টেম হিসেবে কাজ করে, নাকি এরা শুধু পাশাপাশি বসে থাকা দুইটা আলাদা ডেমো? এর উত্তর সরাসরি ৯ নম্বর স্লাইডে আছে।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This is our core EEE result. Before the active power filter turns on, current THD is 27.13%, way above the IEEE 519 limit of 5%. The moment the filter activates, THD drops to 2.07% - within one single AC cycle. The left chart shows this in the frequency domain, the spectrum of the 5th, 7th, 11th, and 13th harmonics before and after. The right chart shows the same event in the time domain - you can see the sharp drop right when the filter turns on.</a:t>
            </a:r>
          </a:p>
          <a:p/>
          <a:p>
            <a:r>
              <a:t>[BN] এটা আমাদের মূল EEE result। active power filter চালু হওয়ার আগে current THD ছিল ২৭.১৩%, যা IEEE 519 standard-এর ৫% limit-এর অনেক বেশি। filter চালু হওয়ার সাথে সাথে THD নেমে আসে ২.০৭%-এ - মাত্র একটা AC cycle-এর মধ্যে। বাম দিকের চার্টে এটা frequency domain-এ দেখানো হয়েছে, 5th, 7th, 11th আর 13th harmonic-এর spectrum, before আর after। ডান দিকের চার্টে একই ঘটনা time domain-এ দেখানো হয়েছে - filter চালু হওয়ার সাথে সাথে হঠাৎ drop-টা স্পষ্ট দেখা যায়।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This slide is about proving our anomaly detector actually works, not just producing a plausible-looking number. We trained an Isolation Forest without giving it any fault labels. On real disturbance data, it reaches an ROC-AUC of 0.70. Then, as a control test, we ran the exact same method on a synthetic dataset where the fault label is purely random by construction - it should have zero real signal to find. And it collapsed to 0.50, which is exactly chance level. That's strong evidence the method is measuring something real on the actual data, not just an artifact of the algorithm.</a:t>
            </a:r>
          </a:p>
          <a:p/>
          <a:p>
            <a:r>
              <a:t>[BN] এই স্লাইডে আমরা প্রমাণ করছি যে আমাদের anomaly detector সত্যিই কাজ করে, শুধু একটা convincing দেখতে number তৈরি করছে না। আমরা কোনো fault label না দিয়ে একটা Isolation Forest train করেছি। real disturbance data-তে এটা ০.৭০ ROC-AUC পায়। তারপর control test হিসেবে, আমরা ঠিক একই method একটা synthetic dataset-এ চালিয়েছি যেখানে fault label সম্পূর্ণ randomly তৈরি করা - অর্থাৎ এখানে কোনো real signal থাকার কথা না। আর সেখানে এটা নেমে আসে ০.৫০-এ, যেটা ঠিক chance level। এটা শক্তিশালী প্রমাণ যে আমাদের method actual data-তে সত্যিকারের কিছু measure করছে, শুধু algorithm-এর কোনো artifact না।</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Our four-class Random Forest classifier reaches 99.7% held-out accuracy - 99.26% averaged over five random seeds, so it's not a lucky split. But accuracy alone doesn't tell you if the model learned the right reasons. That's where SHAP comes in: it shows voltage_rms_V dominates Voltage_Sag predictions, and THD_voltage_pct with the harmonic-order features dominate Harmonic_Distortion predictions. That matches exactly what a power engineer would expect physically - this isn't a black box making coincidental correct guesses.</a:t>
            </a:r>
          </a:p>
          <a:p/>
          <a:p>
            <a:r>
              <a:t>[BN] আমাদের 4-class Random Forest classifier ৯৯.৭% held-out accuracy পায় - পাঁচটা random seed-এ average করলে ৯৯.২৬%, তাই এটা কোনো লাকি split না। কিন্তু শুধু accuracy দেখলে বোঝা যায় না মডেল সঠিক কারণে সিদ্ধান্ত নিচ্ছে কিনা। এখানেই SHAP কাজে আসে: এটা দেখায় voltage_rms_V, Voltage_Sag prediction-এ সবচেয়ে বেশি প্রভাব ফেলে, আর THD_voltage_pct আর harmonic-order feature গুলো Harmonic_Distortion prediction-এ। এটা ঠিক তেমনি যেমনটা একজন power engineer physically আশা করবে - এটা কোনো black box না যে কাকতালীয়ভাবে সঠিক অনুমান করছে।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To make all of this usable, we built an operator-facing dashboard. It shows the current reading, the classifier's prediction, the anomaly detector's flag, and the SHAP explanation, all together on one screen. Someone without a machine learning background can look at this and understand not just what the system predicted, but why.</a:t>
            </a:r>
          </a:p>
          <a:p/>
          <a:p>
            <a:r>
              <a:t>[BN] এই সবকিছু ব্যবহারযোগ্য করার জন্য আমরা একটা operator-facing dashboard তৈরি করেছি। এটাতে current reading, classifier-এর prediction, anomaly detector-এর flag, আর SHAP explanation - সবকিছু একসাথে একটা স্ক্রিনে দেখানো হয়। machine learning-এর ব্যাকগ্রাউন্ড ছাড়া কেউ এটা দেখেই বুঝতে পারবে সিস্টেম কী predict করেছে, আর কেন করেছে।</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This is our standout result. Until this test, the EEE physics twin and the CSE classifier were two completely independent pipelines running on unrelated data. We wanted to know: do they actually function as one system? So we injected the same four disturbance types into the physics twin, extracted the same features, and classified the simulated waveforms using a model trained only on real data - the model had never seen anything simulated. Our first attempt only got 25% accuracy - basically random guessing. We dug into why, and found the twin's voltage source was ideal, zero-impedance, which meant one of the most important features, voltage THD, was always exactly zero in simulation - even though in the real data it's the single biggest signal separating harmonic distortion from voltage sag. We fixed this with a standard textbook addition, a source reactance that scales with harmonic order, and recalibrated the harmonic levels to match real-world magnitudes instead of an arbitrary textbook default. After that fix, accuracy jumped to 93%. This is the first real evidence that our EEE and CSE work are not just two separate demos - they function as one connected system.</a:t>
            </a:r>
          </a:p>
          <a:p/>
          <a:p>
            <a:r>
              <a:t>[BN] এটা আমাদের সবচেয়ে গুরুত্বপূর্ণ result। এই test-এর আগে, EEE physics twin আর CSE classifier ছিল সম্পূর্ণ independent দুইটা pipeline, আলাদা আলাদা data-তে চলতো। আমরা জানতে চেয়েছিলাম: এরা কি সত্যিই একটা সিস্টেম হিসেবে কাজ করে? তাই আমরা একই চারটা disturbance type physics twin-এ inject করলাম, একই feature extract করলাম, আর শুধুমাত্র real data দিয়ে train করা model দিয়ে simulated waveform classify করলাম - এই model আগে কখনো কোনো simulated data দেখেনি। প্রথম attempt-এ আমরা মাত্র ২৫% accuracy পেয়েছিলাম - প্রায় random guessing। কেন এমন হলো খুঁজতে গিয়ে দেখলাম, twin-এর voltage source ছিল ideal, zero-impedance, যার মানে সবচেয়ে গুরুত্বপূর্ণ feature গুলোর একটা, voltage THD, simulation-এ সবসময় exactly zero ছিল - অথচ real data-তে এটাই সবচেয়ে বড় signal যা harmonic distortion আর voltage sag-কে আলাদা করে। আমরা এটা ঠিক করেছি একটা standard textbook addition দিয়ে, একটা source reactance যেটা harmonic order অনুযায়ী scale করে, আর harmonic level real-world magnitude-এর সাথে recalibrate করেছি, arbitrary textbook default-এর বদলে। এই fix-এর পর accuracy লাফিয়ে ৯৩%-এ চলে যায়। এটাই প্রথম real প্রমাণ যে আমাদের EEE আর CSE-এর কাজ শুধু দুইটা আলাদা ডেমো না - এরা একটা connected system হিসেবে কাজ করে।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 quantify cost two completely independent ways, on purpose, so we never present an assumed-parameter model as if it were a measured fact. First, our own battery-degradation cost model, run through a 200-run Monte Carlo with the cost and degradation parameters perturbed plus or minus 20%. That gives a 90% confidence interval, not just a single number: 26,955 BDT per year, with the interval from about 19,600 to 34,200. Second, completely separately, HOMER Pro's own commercial optimizer, comparing three architectures. The 81.4% renewable configuration reaches 0.0278 dollars per kilowatt-hour, roughly a quarter the cost of the 0% renewable, fuel-cell-only configuration.</a:t>
            </a:r>
          </a:p>
          <a:p/>
          <a:p>
            <a:r>
              <a:t>[BN] আমরা ইচ্ছাকৃতভাবে দুইটা সম্পূর্ণ independent উপায়ে cost quantify করেছি, যাতে কখনো একটা assumed-parameter model-কে measured fact হিসেবে present না করে ফেলি। প্রথমত, আমাদের নিজস্ব battery-degradation cost model, ২০০-রান Monte Carlo দিয়ে চালানো, যেখানে cost আর degradation parameter ±২০% perturb করা হয়েছে। এটা থেকে শুধু একটা number না, একটা ৯০% confidence interval পাওয়া যায়: বছরে ২৬,৯৫৫ BDT, interval প্রায় ১৯,৬০০ থেকে ৩৪,২০০ পর্যন্ত। দ্বিতীয়ত, সম্পূর্ণ আলাদাভাবে, HOMER Pro-র নিজস্ব commercial optimizer, তিনটা architecture compare করে। ৮১.৪% renewable configuration ০.০২৭৮ ডলার প্রতি kWh-তে পৌঁছায়, যা ০% renewable, শুধু fuel-cell configuration-এর তুলনায় প্রায় চার ভাগের এক ভাগ খরচ।</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Our twin assumes voltage and frequency stay at an exact constant except during one scripted sag event - nobody had checked if that's realistic. So we compared it against one month of real telemetry from an unrelated microgrid in the United States, Mesa Del Sol. Different country, different voltage, different frequency, so we can only compare normalized, per-unit behavior. And even with no fault scripted for almost the entire month, the real frequency shows continuous variation of about 0.03% per-unit, and real voltage shows about 0.5 to 0.6% per-unit variation. That's concrete evidence our twin's constant-value assumption is a real idealization worth stating honestly, not something we can just wave away.</a:t>
            </a:r>
          </a:p>
          <a:p/>
          <a:p>
            <a:r>
              <a:t>[BN] আমাদের twin ধরে নেয় যে voltage আর frequency exactly constant থাকে, শুধু একটা scripted sag event ছাড়া - এটা realistic কিনা কেউ আগে check করেনি। তাই আমরা এটাকে compare করেছি আমেরিকার একটা সম্পূর্ণ unrelated microgrid, Mesa Del Sol-এর এক মাসের real telemetry-র সাথে। আলাদা দেশ, আলাদা voltage, আলাদা frequency, তাই আমরা শুধু normalized, per-unit behavior compare করতে পারি। আর প্রায় পুরো মাস কোনো fault scripted না থাকা সত্ত্বেও, real frequency-তে প্রায় ০.০৩% per-unit continuous variation দেখা যায়, আর real voltage-এ প্রায় ০.৫ থেকে ০.৬% per-unit variation। এটা concrete প্রমাণ যে আমাদের twin-এর constant-value assumption একটা real idealization, যেটা honestly বলে দেওয়া উচিত, লুকিয়ে রাখার কিছু 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To summarize everything: THD suppressed from 27.13% to 2.07%; disturbance classifier at 99.7% accuracy; anomaly detector at 0.70 ROC-AUC versus 0.50 for the null control; sim-to-real bridge at 93% accuracy; cost at 26,955 BDT per year with a 90% confidence interval; HOMER showing 81.4% renewable reaching 0.0278 dollars per kWh; and external validation confirming our V/f assumptions are reasonable but idealized. Going forward, our future work is completing the pending Simulink cross-validation, extending the source-impedance fix into the main twin instead of just the bridge test, and revisiting the dataset provenance question once we get documentary confirmation. Thank you.</a:t>
            </a:r>
          </a:p>
          <a:p/>
          <a:p>
            <a:r>
              <a:t>[BN] সংক্ষেপে বলতে গেলে: THD ২৭.১৩% থেকে নেমে ২.০৭%-এ; disturbance classifier ৯৯.৭% accuracy; anomaly detector ০.৭০ ROC-AUC বনাম null control-এর ০.৫০; sim-to-real bridge ৯৩% accuracy; cost বছরে ২৬,৯৫৫ BDT, ৯০% confidence interval সহ; HOMER দেখাচ্ছে ৮১.৪% renewable ০.০২৭৮ ডলার প্রতি kWh-তে পৌঁছায়; আর external validation নিশ্চিত করেছে আমাদের V/f assumption reasonable কিন্তু idealized। সামনের কাজ হলো বাকি থাকা Simulink cross-validation শেষ করা, source-impedance fix-টা শুধু bridge test না, মূল twin-এও যুক্ত করা, আর dataset provenance-এর প্রশ্নটা documentary confirmation পেলে আবার দেখা। ধন্যবাদ।</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822960" y="1828800"/>
            <a:ext cx="10515600" cy="2194560"/>
          </a:xfrm>
          <a:prstGeom prst="rect">
            <a:avLst/>
          </a:prstGeom>
          <a:noFill/>
        </p:spPr>
        <p:txBody>
          <a:bodyPr wrap="square">
            <a:spAutoFit/>
          </a:bodyPr>
          <a:lstStyle/>
          <a:p>
            <a:r>
              <a:rPr sz="3400" b="1">
                <a:solidFill>
                  <a:srgbClr val="FFFFFF"/>
                </a:solidFill>
                <a:latin typeface="Calibri"/>
              </a:rPr>
              <a:t>A Cyber-Resilient, Explainable Digital Twin Framework for Predictive and Cost-Aware Power Quality Management in Renewable Microgrids</a:t>
            </a:r>
          </a:p>
        </p:txBody>
      </p:sp>
      <p:sp>
        <p:nvSpPr>
          <p:cNvPr id="3" name="TextBox 2"/>
          <p:cNvSpPr txBox="1"/>
          <p:nvPr/>
        </p:nvSpPr>
        <p:spPr>
          <a:xfrm>
            <a:off x="822960" y="4114800"/>
            <a:ext cx="10515600" cy="548640"/>
          </a:xfrm>
          <a:prstGeom prst="rect">
            <a:avLst/>
          </a:prstGeom>
          <a:noFill/>
        </p:spPr>
        <p:txBody>
          <a:bodyPr wrap="none">
            <a:spAutoFit/>
          </a:bodyPr>
          <a:lstStyle/>
          <a:p>
            <a:r>
              <a:rPr sz="1800">
                <a:solidFill>
                  <a:srgbClr val="B8C4D9"/>
                </a:solidFill>
                <a:latin typeface="Calibri"/>
              </a:rPr>
              <a:t>ICCIT 2026 Submission — Joint EEE + CSE Project</a:t>
            </a:r>
          </a:p>
        </p:txBody>
      </p:sp>
      <p:sp>
        <p:nvSpPr>
          <p:cNvPr id="4" name="TextBox 3"/>
          <p:cNvSpPr txBox="1"/>
          <p:nvPr/>
        </p:nvSpPr>
        <p:spPr>
          <a:xfrm>
            <a:off x="822960" y="4846320"/>
            <a:ext cx="10515600" cy="1097280"/>
          </a:xfrm>
          <a:prstGeom prst="rect">
            <a:avLst/>
          </a:prstGeom>
          <a:noFill/>
        </p:spPr>
        <p:txBody>
          <a:bodyPr wrap="none">
            <a:spAutoFit/>
          </a:bodyPr>
          <a:lstStyle/>
          <a:p>
            <a:r>
              <a:rPr sz="1300" i="1">
                <a:solidFill>
                  <a:srgbClr val="8A96B0"/>
                </a:solidFill>
              </a:rPr>
              <a:t>[Team names / affiliation — add before presenting internally; keep blank in the double-blind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Motivation: Bangladesh's 2026 Power Crisis</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5029200"/>
          </a:xfrm>
          <a:prstGeom prst="rect">
            <a:avLst/>
          </a:prstGeom>
          <a:noFill/>
        </p:spPr>
        <p:txBody>
          <a:bodyPr wrap="square">
            <a:spAutoFit/>
          </a:bodyPr>
          <a:lstStyle/>
          <a:p>
            <a:pPr>
              <a:spcAft>
                <a:spcPts val="1000"/>
              </a:spcAft>
            </a:pPr>
            <a:r>
              <a:rPr sz="1800">
                <a:solidFill>
                  <a:srgbClr val="4A4A4A"/>
                </a:solidFill>
                <a:latin typeface="Calibri"/>
              </a:rPr>
              <a:t>• National shortage climbed 335 MW → 2,167 MW in 3 days (early Aug 2026); record 2,500 MW shortfall</a:t>
            </a:r>
          </a:p>
          <a:p>
            <a:pPr>
              <a:spcAft>
                <a:spcPts val="1000"/>
              </a:spcAft>
            </a:pPr>
            <a:r>
              <a:rPr sz="1800">
                <a:solidFill>
                  <a:srgbClr val="4A4A4A"/>
                </a:solidFill>
                <a:latin typeface="Calibri"/>
              </a:rPr>
              <a:t>• Rural load-shedding up to 7–8 hrs/day; urban (outside Dhaka) 2–3 hrs/day</a:t>
            </a:r>
          </a:p>
          <a:p>
            <a:pPr>
              <a:spcAft>
                <a:spcPts val="1000"/>
              </a:spcAft>
            </a:pPr>
            <a:r>
              <a:rPr sz="1800">
                <a:solidFill>
                  <a:srgbClr val="4A4A4A"/>
                </a:solidFill>
                <a:latin typeface="Calibri"/>
              </a:rPr>
              <a:t>• Yet installed capacity (28,919 MW) comfortably exceeds 2026 peak demand (18,500 MW)</a:t>
            </a:r>
          </a:p>
          <a:p>
            <a:pPr>
              <a:spcAft>
                <a:spcPts val="1000"/>
              </a:spcAft>
            </a:pPr>
            <a:r>
              <a:rPr sz="1800">
                <a:solidFill>
                  <a:srgbClr val="4A4A4A"/>
                </a:solidFill>
                <a:latin typeface="Calibri"/>
              </a:rPr>
              <a:t>• Real constraint: gas supply (900 MMcf/d available vs. 1,200 MMcf/d needed at peak)</a:t>
            </a:r>
          </a:p>
          <a:p>
            <a:pPr>
              <a:spcAft>
                <a:spcPts val="1000"/>
              </a:spcAft>
            </a:pPr>
            <a:r>
              <a:rPr sz="1800">
                <a:solidFill>
                  <a:srgbClr val="4A4A4A"/>
                </a:solidFill>
                <a:latin typeface="Calibri"/>
              </a:rPr>
              <a:t>• Even the 1,200 MW Rooppur nuclear unit (fuel-loaded May 2026) didn't prevent this year's shortfall</a:t>
            </a:r>
          </a:p>
          <a:p>
            <a:pPr>
              <a:spcAft>
                <a:spcPts val="1000"/>
              </a:spcAft>
            </a:pPr>
            <a:r>
              <a:rPr sz="1800">
                <a:solidFill>
                  <a:srgbClr val="4A4A4A"/>
                </a:solidFill>
                <a:latin typeface="Calibri"/>
              </a:rPr>
              <a:t>• Takeaway: this is a fuel-logistics / dispatch problem, not a capacity problem —</a:t>
            </a:r>
          </a:p>
          <a:p>
            <a:pPr lvl="1">
              <a:spcAft>
                <a:spcPts val="1000"/>
              </a:spcAft>
            </a:pPr>
            <a:r>
              <a:rPr sz="1600">
                <a:solidFill>
                  <a:srgbClr val="4A4A4A"/>
                </a:solidFill>
                <a:latin typeface="Calibri"/>
              </a:rPr>
              <a:t>‣ exactly the layer decentralized renewable microgrids can help with,</a:t>
            </a:r>
          </a:p>
          <a:p>
            <a:pPr lvl="1">
              <a:spcAft>
                <a:spcPts val="1000"/>
              </a:spcAft>
            </a:pPr>
            <a:r>
              <a:rPr sz="1600">
                <a:solidFill>
                  <a:srgbClr val="4A4A4A"/>
                </a:solidFill>
                <a:latin typeface="Calibri"/>
              </a:rPr>
              <a:t>‣ if their power quality, reliability, and cost are characterized rigorously.</a:t>
            </a:r>
          </a:p>
        </p:txBody>
      </p:sp>
      <p:sp>
        <p:nvSpPr>
          <p:cNvPr id="5" name="TextBox 4"/>
          <p:cNvSpPr txBox="1"/>
          <p:nvPr/>
        </p:nvSpPr>
        <p:spPr>
          <a:xfrm>
            <a:off x="457200" y="6446520"/>
            <a:ext cx="9601200" cy="320040"/>
          </a:xfrm>
          <a:prstGeom prst="rect">
            <a:avLst/>
          </a:prstGeom>
          <a:noFill/>
        </p:spPr>
        <p:txBody>
          <a:bodyPr wrap="none">
            <a:spAutoFit/>
          </a:bodyPr>
          <a:lstStyle/>
          <a:p>
            <a:r>
              <a:rPr sz="1000" i="1">
                <a:solidFill>
                  <a:srgbClr val="999999"/>
                </a:solidFill>
              </a:rPr>
              <a:t>Sources: Power Grid Company of Bangladesh (PGCB), Bangladesh Power Development Board (BPDB) — see paper refs [15]–[19]</a:t>
            </a:r>
          </a:p>
        </p:txBody>
      </p:sp>
      <p:sp>
        <p:nvSpPr>
          <p:cNvPr id="6" name="TextBox 5"/>
          <p:cNvSpPr txBox="1"/>
          <p:nvPr/>
        </p:nvSpPr>
        <p:spPr>
          <a:xfrm>
            <a:off x="11521440" y="6446520"/>
            <a:ext cx="548640" cy="320040"/>
          </a:xfrm>
          <a:prstGeom prst="rect">
            <a:avLst/>
          </a:prstGeom>
          <a:noFill/>
        </p:spPr>
        <p:txBody>
          <a:bodyPr wrap="none">
            <a:spAutoFit/>
          </a:bodyPr>
          <a:lstStyle/>
          <a:p>
            <a:r>
              <a:rPr sz="1100">
                <a:solidFill>
                  <a:srgbClr val="4A4A4A"/>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Research Gaps &amp; Our Contributions</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5029200"/>
          </a:xfrm>
          <a:prstGeom prst="rect">
            <a:avLst/>
          </a:prstGeom>
          <a:noFill/>
        </p:spPr>
        <p:txBody>
          <a:bodyPr wrap="square">
            <a:spAutoFit/>
          </a:bodyPr>
          <a:lstStyle/>
          <a:p>
            <a:pPr>
              <a:spcAft>
                <a:spcPts val="1000"/>
              </a:spcAft>
            </a:pPr>
            <a:r>
              <a:rPr sz="1800">
                <a:solidFill>
                  <a:srgbClr val="4A4A4A"/>
                </a:solidFill>
                <a:latin typeface="Calibri"/>
              </a:rPr>
              <a:t>• Gaps in existing monitoring: reactive-only, no explainability, no cyber-resilience, no cost linkage</a:t>
            </a:r>
          </a:p>
          <a:p>
            <a:pPr>
              <a:spcAft>
                <a:spcPts val="1000"/>
              </a:spcAft>
            </a:pPr>
            <a:r>
              <a:rPr sz="1800">
                <a:solidFill>
                  <a:srgbClr val="4A4A4A"/>
                </a:solidFill>
                <a:latin typeface="Calibri"/>
              </a:rPr>
              <a:t>• 1. Physics-based PQ digital twin validated against real annual HOMER Pro simulation</a:t>
            </a:r>
          </a:p>
          <a:p>
            <a:pPr>
              <a:spcAft>
                <a:spcPts val="1000"/>
              </a:spcAft>
            </a:pPr>
            <a:r>
              <a:rPr sz="1800">
                <a:solidFill>
                  <a:srgbClr val="4A4A4A"/>
                </a:solidFill>
                <a:latin typeface="Calibri"/>
              </a:rPr>
              <a:t>• 2. Anomaly detection validated by a null-result control (real ROC-AUC 0.70 vs. random-label 0.50)</a:t>
            </a:r>
          </a:p>
          <a:p>
            <a:pPr>
              <a:spcAft>
                <a:spcPts val="1000"/>
              </a:spcAft>
            </a:pPr>
            <a:r>
              <a:rPr sz="1800">
                <a:solidFill>
                  <a:srgbClr val="4A4A4A"/>
                </a:solidFill>
                <a:latin typeface="Calibri"/>
              </a:rPr>
              <a:t>• 3. Four-class disturbance predictor with SHAP explainability matching power-engineering expectation</a:t>
            </a:r>
          </a:p>
          <a:p>
            <a:pPr>
              <a:spcAft>
                <a:spcPts val="1000"/>
              </a:spcAft>
            </a:pPr>
            <a:r>
              <a:rPr sz="1800">
                <a:solidFill>
                  <a:srgbClr val="4A4A4A"/>
                </a:solidFill>
                <a:latin typeface="Calibri"/>
              </a:rPr>
              <a:t>• 4. Sim-to-real bridge: physics-simulated waveforms classified by a real-data-only model at 93% accuracy</a:t>
            </a:r>
          </a:p>
          <a:p>
            <a:pPr>
              <a:spcAft>
                <a:spcPts val="1000"/>
              </a:spcAft>
            </a:pPr>
            <a:r>
              <a:rPr sz="1800">
                <a:solidFill>
                  <a:srgbClr val="4A4A4A"/>
                </a:solidFill>
                <a:latin typeface="Calibri"/>
              </a:rPr>
              <a:t>• 5. Two independent, uncertainty-quantified cost analyses + external V/f validation vs. a real US microgrid</a:t>
            </a:r>
          </a:p>
        </p:txBody>
      </p:sp>
      <p:sp>
        <p:nvSpPr>
          <p:cNvPr id="5" name="TextBox 4"/>
          <p:cNvSpPr txBox="1"/>
          <p:nvPr/>
        </p:nvSpPr>
        <p:spPr>
          <a:xfrm>
            <a:off x="11521440" y="6446520"/>
            <a:ext cx="548640" cy="320040"/>
          </a:xfrm>
          <a:prstGeom prst="rect">
            <a:avLst/>
          </a:prstGeom>
          <a:noFill/>
        </p:spPr>
        <p:txBody>
          <a:bodyPr wrap="none">
            <a:spAutoFit/>
          </a:bodyPr>
          <a:lstStyle/>
          <a:p>
            <a:r>
              <a:rPr sz="1100">
                <a:solidFill>
                  <a:srgbClr val="4A4A4A"/>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System Overview: EEE Twin + CSE Pipeline</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5029200"/>
          </a:xfrm>
          <a:prstGeom prst="rect">
            <a:avLst/>
          </a:prstGeom>
          <a:noFill/>
        </p:spPr>
        <p:txBody>
          <a:bodyPr wrap="square">
            <a:spAutoFit/>
          </a:bodyPr>
          <a:lstStyle/>
          <a:p>
            <a:pPr>
              <a:spcAft>
                <a:spcPts val="1000"/>
              </a:spcAft>
            </a:pPr>
            <a:r>
              <a:rPr sz="1900">
                <a:solidFill>
                  <a:srgbClr val="4A4A4A"/>
                </a:solidFill>
                <a:latin typeface="Calibri"/>
              </a:rPr>
              <a:t>• EEE side: weather-driven PV + nonlinear-load harmonics + SRF Active Power Filter + FFT-based THD analyzer</a:t>
            </a:r>
          </a:p>
          <a:p>
            <a:pPr>
              <a:spcAft>
                <a:spcPts val="1000"/>
              </a:spcAft>
            </a:pPr>
            <a:r>
              <a:rPr sz="1900">
                <a:solidFill>
                  <a:srgbClr val="4A4A4A"/>
                </a:solidFill>
                <a:latin typeface="Calibri"/>
              </a:rPr>
              <a:t>• CSE side: Isolation Forest anomaly detection, 4-class disturbance classifier, SHAP explainability</a:t>
            </a:r>
          </a:p>
          <a:p>
            <a:pPr>
              <a:spcAft>
                <a:spcPts val="1000"/>
              </a:spcAft>
            </a:pPr>
            <a:r>
              <a:rPr sz="1900">
                <a:solidFill>
                  <a:srgbClr val="4A4A4A"/>
                </a:solidFill>
                <a:latin typeface="Calibri"/>
              </a:rPr>
              <a:t>• Both trained/validated on the same real Jamalpur field dataset (5,000 rows, 10 features)</a:t>
            </a:r>
          </a:p>
          <a:p>
            <a:pPr>
              <a:spcAft>
                <a:spcPts val="1000"/>
              </a:spcAft>
            </a:pPr>
            <a:r>
              <a:rPr sz="1900">
                <a:solidFill>
                  <a:srgbClr val="4A4A4A"/>
                </a:solidFill>
                <a:latin typeface="Calibri"/>
              </a:rPr>
              <a:t>• Real HOMER Pro annual simulation (8,760 hourly rows) drives realistic twin operating conditions</a:t>
            </a:r>
          </a:p>
          <a:p>
            <a:pPr>
              <a:spcAft>
                <a:spcPts val="1000"/>
              </a:spcAft>
            </a:pPr>
            <a:r>
              <a:rPr sz="1900">
                <a:solidFill>
                  <a:srgbClr val="4A4A4A"/>
                </a:solidFill>
                <a:latin typeface="Calibri"/>
              </a:rPr>
              <a:t>• Critical test: do the two halves actually function as ONE system, or just two demos side by side?</a:t>
            </a:r>
          </a:p>
          <a:p>
            <a:pPr>
              <a:spcAft>
                <a:spcPts val="1000"/>
              </a:spcAft>
            </a:pPr>
            <a:r>
              <a:rPr sz="1900">
                <a:solidFill>
                  <a:srgbClr val="4A4A4A"/>
                </a:solidFill>
                <a:latin typeface="Calibri"/>
              </a:rPr>
              <a:t>• → Answered directly in the sim-to-real bridge result (slide 9)</a:t>
            </a:r>
          </a:p>
        </p:txBody>
      </p:sp>
      <p:sp>
        <p:nvSpPr>
          <p:cNvPr id="5" name="TextBox 4"/>
          <p:cNvSpPr txBox="1"/>
          <p:nvPr/>
        </p:nvSpPr>
        <p:spPr>
          <a:xfrm>
            <a:off x="11521440" y="6446520"/>
            <a:ext cx="548640" cy="320040"/>
          </a:xfrm>
          <a:prstGeom prst="rect">
            <a:avLst/>
          </a:prstGeom>
          <a:noFill/>
        </p:spPr>
        <p:txBody>
          <a:bodyPr wrap="none">
            <a:spAutoFit/>
          </a:bodyPr>
          <a:lstStyle/>
          <a:p>
            <a:r>
              <a:rPr sz="1100">
                <a:solidFill>
                  <a:srgbClr val="4A4A4A"/>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Physics Twin: Harmonic Suppression</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spectrum.png"/>
          <p:cNvPicPr>
            <a:picLocks noChangeAspect="1"/>
          </p:cNvPicPr>
          <p:nvPr/>
        </p:nvPicPr>
        <p:blipFill>
          <a:blip r:embed="rId2"/>
          <a:stretch>
            <a:fillRect/>
          </a:stretch>
        </p:blipFill>
        <p:spPr>
          <a:xfrm>
            <a:off x="2943929" y="1188720"/>
            <a:ext cx="6273660" cy="2468880"/>
          </a:xfrm>
          <a:prstGeom prst="rect">
            <a:avLst/>
          </a:prstGeom>
        </p:spPr>
      </p:pic>
      <p:pic>
        <p:nvPicPr>
          <p:cNvPr id="5" name="Picture 4" descr="fig8_thd_timeseries.png"/>
          <p:cNvPicPr>
            <a:picLocks noChangeAspect="1"/>
          </p:cNvPicPr>
          <p:nvPr/>
        </p:nvPicPr>
        <p:blipFill>
          <a:blip r:embed="rId3"/>
          <a:stretch>
            <a:fillRect/>
          </a:stretch>
        </p:blipFill>
        <p:spPr>
          <a:xfrm>
            <a:off x="3223260" y="3794760"/>
            <a:ext cx="5715000" cy="2286000"/>
          </a:xfrm>
          <a:prstGeom prst="rect">
            <a:avLst/>
          </a:prstGeom>
        </p:spPr>
      </p:pic>
      <p:sp>
        <p:nvSpPr>
          <p:cNvPr id="6" name="TextBox 5"/>
          <p:cNvSpPr txBox="1"/>
          <p:nvPr/>
        </p:nvSpPr>
        <p:spPr>
          <a:xfrm>
            <a:off x="548640" y="6126480"/>
            <a:ext cx="11064240" cy="5029200"/>
          </a:xfrm>
          <a:prstGeom prst="rect">
            <a:avLst/>
          </a:prstGeom>
          <a:noFill/>
        </p:spPr>
        <p:txBody>
          <a:bodyPr wrap="square">
            <a:spAutoFit/>
          </a:bodyPr>
          <a:lstStyle/>
          <a:p>
            <a:pPr>
              <a:spcAft>
                <a:spcPts val="0"/>
              </a:spcAft>
            </a:pPr>
            <a:r>
              <a:rPr sz="1500">
                <a:solidFill>
                  <a:srgbClr val="4A4A4A"/>
                </a:solidFill>
                <a:latin typeface="Calibri"/>
              </a:rPr>
              <a:t>• THD_i suppressed from 27.13% to 2.07% within one cycle of APF activation — inside the IEEE 519 5% limit</a:t>
            </a:r>
          </a:p>
        </p:txBody>
      </p:sp>
      <p:sp>
        <p:nvSpPr>
          <p:cNvPr id="7" name="TextBox 6"/>
          <p:cNvSpPr txBox="1"/>
          <p:nvPr/>
        </p:nvSpPr>
        <p:spPr>
          <a:xfrm>
            <a:off x="11521440" y="6446520"/>
            <a:ext cx="548640" cy="320040"/>
          </a:xfrm>
          <a:prstGeom prst="rect">
            <a:avLst/>
          </a:prstGeom>
          <a:noFill/>
        </p:spPr>
        <p:txBody>
          <a:bodyPr wrap="none">
            <a:spAutoFit/>
          </a:bodyPr>
          <a:lstStyle/>
          <a:p>
            <a:r>
              <a:rPr sz="1100">
                <a:solidFill>
                  <a:srgbClr val="4A4A4A"/>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Cyber-Resilient Anomaly Detection</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anomaly_null_control.png"/>
          <p:cNvPicPr>
            <a:picLocks noChangeAspect="1"/>
          </p:cNvPicPr>
          <p:nvPr/>
        </p:nvPicPr>
        <p:blipFill>
          <a:blip r:embed="rId2"/>
          <a:stretch>
            <a:fillRect/>
          </a:stretch>
        </p:blipFill>
        <p:spPr>
          <a:xfrm>
            <a:off x="1087119" y="1234440"/>
            <a:ext cx="6969760" cy="4480560"/>
          </a:xfrm>
          <a:prstGeom prst="rect">
            <a:avLst/>
          </a:prstGeom>
        </p:spPr>
      </p:pic>
      <p:sp>
        <p:nvSpPr>
          <p:cNvPr id="5" name="TextBox 4"/>
          <p:cNvSpPr txBox="1"/>
          <p:nvPr/>
        </p:nvSpPr>
        <p:spPr>
          <a:xfrm>
            <a:off x="8412480" y="1371600"/>
            <a:ext cx="3383280" cy="5029200"/>
          </a:xfrm>
          <a:prstGeom prst="rect">
            <a:avLst/>
          </a:prstGeom>
          <a:noFill/>
        </p:spPr>
        <p:txBody>
          <a:bodyPr wrap="square">
            <a:spAutoFit/>
          </a:bodyPr>
          <a:lstStyle/>
          <a:p>
            <a:pPr>
              <a:spcAft>
                <a:spcPts val="1000"/>
              </a:spcAft>
            </a:pPr>
            <a:r>
              <a:rPr sz="1400">
                <a:solidFill>
                  <a:srgbClr val="4A4A4A"/>
                </a:solidFill>
                <a:latin typeface="Calibri"/>
              </a:rPr>
              <a:t>• Isolation Forest trained WITHOUT ground-truth labels</a:t>
            </a:r>
          </a:p>
          <a:p>
            <a:pPr>
              <a:spcAft>
                <a:spcPts val="1000"/>
              </a:spcAft>
            </a:pPr>
            <a:r>
              <a:rPr sz="1400">
                <a:solidFill>
                  <a:srgbClr val="4A4A4A"/>
                </a:solidFill>
                <a:latin typeface="Calibri"/>
              </a:rPr>
              <a:t>• Real disturbance data: ROC-AUC 0.70</a:t>
            </a:r>
          </a:p>
          <a:p>
            <a:pPr>
              <a:spcAft>
                <a:spcPts val="1000"/>
              </a:spcAft>
            </a:pPr>
            <a:r>
              <a:rPr sz="1400">
                <a:solidFill>
                  <a:srgbClr val="4A4A4A"/>
                </a:solidFill>
                <a:latin typeface="Calibri"/>
              </a:rPr>
              <a:t>• Null control (random-label synthetic data): ROC-AUC 0.50 (chance)</a:t>
            </a:r>
          </a:p>
          <a:p>
            <a:pPr>
              <a:spcAft>
                <a:spcPts val="1000"/>
              </a:spcAft>
            </a:pPr>
            <a:r>
              <a:rPr sz="1400">
                <a:solidFill>
                  <a:srgbClr val="4A4A4A"/>
                </a:solidFill>
                <a:latin typeface="Calibri"/>
              </a:rPr>
              <a:t>• → Evidence the pipeline measures a real signal, not a method artifact</a:t>
            </a:r>
          </a:p>
          <a:p>
            <a:pPr>
              <a:spcAft>
                <a:spcPts val="1000"/>
              </a:spcAft>
            </a:pPr>
            <a:r>
              <a:rPr sz="1400">
                <a:solidFill>
                  <a:srgbClr val="4A4A4A"/>
                </a:solidFill>
                <a:latin typeface="Calibri"/>
              </a:rPr>
              <a:t>• Supervised RF (with labels) reaches 0.83 — fault signal exists but isn't a natural multivariate outlier</a:t>
            </a:r>
          </a:p>
        </p:txBody>
      </p:sp>
      <p:sp>
        <p:nvSpPr>
          <p:cNvPr id="6" name="TextBox 5"/>
          <p:cNvSpPr txBox="1"/>
          <p:nvPr/>
        </p:nvSpPr>
        <p:spPr>
          <a:xfrm>
            <a:off x="11521440" y="6446520"/>
            <a:ext cx="548640" cy="320040"/>
          </a:xfrm>
          <a:prstGeom prst="rect">
            <a:avLst/>
          </a:prstGeom>
          <a:noFill/>
        </p:spPr>
        <p:txBody>
          <a:bodyPr wrap="none">
            <a:spAutoFit/>
          </a:bodyPr>
          <a:lstStyle/>
          <a:p>
            <a:r>
              <a:rPr sz="1100">
                <a:solidFill>
                  <a:srgbClr val="4A4A4A"/>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Disturbance Prediction &amp; Explainability</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9_disturbance_confusion.png"/>
          <p:cNvPicPr>
            <a:picLocks noChangeAspect="1"/>
          </p:cNvPicPr>
          <p:nvPr/>
        </p:nvPicPr>
        <p:blipFill>
          <a:blip r:embed="rId2"/>
          <a:stretch>
            <a:fillRect/>
          </a:stretch>
        </p:blipFill>
        <p:spPr>
          <a:xfrm>
            <a:off x="365760" y="1276349"/>
            <a:ext cx="5394960" cy="4945380"/>
          </a:xfrm>
          <a:prstGeom prst="rect">
            <a:avLst/>
          </a:prstGeom>
        </p:spPr>
      </p:pic>
      <p:pic>
        <p:nvPicPr>
          <p:cNvPr id="5" name="Picture 4" descr="fig3_shap.png"/>
          <p:cNvPicPr>
            <a:picLocks noChangeAspect="1"/>
          </p:cNvPicPr>
          <p:nvPr/>
        </p:nvPicPr>
        <p:blipFill>
          <a:blip r:embed="rId3"/>
          <a:stretch>
            <a:fillRect/>
          </a:stretch>
        </p:blipFill>
        <p:spPr>
          <a:xfrm>
            <a:off x="6035040" y="1768792"/>
            <a:ext cx="5760720" cy="3960495"/>
          </a:xfrm>
          <a:prstGeom prst="rect">
            <a:avLst/>
          </a:prstGeom>
        </p:spPr>
      </p:pic>
      <p:sp>
        <p:nvSpPr>
          <p:cNvPr id="6" name="TextBox 5"/>
          <p:cNvSpPr txBox="1"/>
          <p:nvPr/>
        </p:nvSpPr>
        <p:spPr>
          <a:xfrm>
            <a:off x="548640" y="6172200"/>
            <a:ext cx="11064240" cy="5029200"/>
          </a:xfrm>
          <a:prstGeom prst="rect">
            <a:avLst/>
          </a:prstGeom>
          <a:noFill/>
        </p:spPr>
        <p:txBody>
          <a:bodyPr wrap="square">
            <a:spAutoFit/>
          </a:bodyPr>
          <a:lstStyle/>
          <a:p>
            <a:pPr>
              <a:spcAft>
                <a:spcPts val="0"/>
              </a:spcAft>
            </a:pPr>
            <a:r>
              <a:rPr sz="1400">
                <a:solidFill>
                  <a:srgbClr val="4A4A4A"/>
                </a:solidFill>
                <a:latin typeface="Calibri"/>
              </a:rPr>
              <a:t>• 4-class Random Forest: 99.7% held-out accuracy (99.26% mean, 5 seeds). SHAP: voltage_rms_V dominates Voltage_Sag; THD_voltage_pct/harmonics dominate Harmonic_Distortion — matches physical mechanism, not a black box.</a:t>
            </a:r>
          </a:p>
        </p:txBody>
      </p:sp>
      <p:sp>
        <p:nvSpPr>
          <p:cNvPr id="7" name="TextBox 6"/>
          <p:cNvSpPr txBox="1"/>
          <p:nvPr/>
        </p:nvSpPr>
        <p:spPr>
          <a:xfrm>
            <a:off x="11521440" y="6446520"/>
            <a:ext cx="548640" cy="320040"/>
          </a:xfrm>
          <a:prstGeom prst="rect">
            <a:avLst/>
          </a:prstGeom>
          <a:noFill/>
        </p:spPr>
        <p:txBody>
          <a:bodyPr wrap="none">
            <a:spAutoFit/>
          </a:bodyPr>
          <a:lstStyle/>
          <a:p>
            <a:r>
              <a:rPr sz="1100">
                <a:solidFill>
                  <a:srgbClr val="4A4A4A"/>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Operator-Facing Dashboard</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_dashboard.png"/>
          <p:cNvPicPr>
            <a:picLocks noChangeAspect="1"/>
          </p:cNvPicPr>
          <p:nvPr/>
        </p:nvPicPr>
        <p:blipFill>
          <a:blip r:embed="rId2"/>
          <a:stretch>
            <a:fillRect/>
          </a:stretch>
        </p:blipFill>
        <p:spPr>
          <a:xfrm>
            <a:off x="2606040" y="1188720"/>
            <a:ext cx="6949440" cy="5212080"/>
          </a:xfrm>
          <a:prstGeom prst="rect">
            <a:avLst/>
          </a:prstGeom>
        </p:spPr>
      </p:pic>
      <p:sp>
        <p:nvSpPr>
          <p:cNvPr id="5" name="TextBox 4"/>
          <p:cNvSpPr txBox="1"/>
          <p:nvPr/>
        </p:nvSpPr>
        <p:spPr>
          <a:xfrm>
            <a:off x="11521440" y="6446520"/>
            <a:ext cx="548640" cy="320040"/>
          </a:xfrm>
          <a:prstGeom prst="rect">
            <a:avLst/>
          </a:prstGeom>
          <a:noFill/>
        </p:spPr>
        <p:txBody>
          <a:bodyPr wrap="none">
            <a:spAutoFit/>
          </a:bodyPr>
          <a:lstStyle/>
          <a:p>
            <a:r>
              <a:rPr sz="1100">
                <a:solidFill>
                  <a:srgbClr val="4A4A4A"/>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Closing the Loop: Sim-to-Real Bridge</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_bridge_confusion.png"/>
          <p:cNvPicPr>
            <a:picLocks noChangeAspect="1"/>
          </p:cNvPicPr>
          <p:nvPr/>
        </p:nvPicPr>
        <p:blipFill>
          <a:blip r:embed="rId2"/>
          <a:stretch>
            <a:fillRect/>
          </a:stretch>
        </p:blipFill>
        <p:spPr>
          <a:xfrm>
            <a:off x="528767" y="1188720"/>
            <a:ext cx="5617584" cy="5212080"/>
          </a:xfrm>
          <a:prstGeom prst="rect">
            <a:avLst/>
          </a:prstGeom>
        </p:spPr>
      </p:pic>
      <p:sp>
        <p:nvSpPr>
          <p:cNvPr id="5" name="TextBox 4"/>
          <p:cNvSpPr txBox="1"/>
          <p:nvPr/>
        </p:nvSpPr>
        <p:spPr>
          <a:xfrm>
            <a:off x="6492240" y="1280160"/>
            <a:ext cx="5303520" cy="5029200"/>
          </a:xfrm>
          <a:prstGeom prst="rect">
            <a:avLst/>
          </a:prstGeom>
          <a:noFill/>
        </p:spPr>
        <p:txBody>
          <a:bodyPr wrap="square">
            <a:spAutoFit/>
          </a:bodyPr>
          <a:lstStyle/>
          <a:p>
            <a:pPr>
              <a:spcAft>
                <a:spcPts val="1000"/>
              </a:spcAft>
            </a:pPr>
            <a:r>
              <a:rPr sz="1400">
                <a:solidFill>
                  <a:srgbClr val="4A4A4A"/>
                </a:solidFill>
                <a:latin typeface="Calibri"/>
              </a:rPr>
              <a:t>• Classifier trained ONLY on real data, tested on PHYSICS-SIMULATED waveforms</a:t>
            </a:r>
          </a:p>
          <a:p>
            <a:pPr>
              <a:spcAft>
                <a:spcPts val="1000"/>
              </a:spcAft>
            </a:pPr>
            <a:r>
              <a:rPr sz="1400">
                <a:solidFill>
                  <a:srgbClr val="4A4A4A"/>
                </a:solidFill>
                <a:latin typeface="Calibri"/>
              </a:rPr>
              <a:t>• Initial attempt: 25% accuracy (majority-class default)</a:t>
            </a:r>
          </a:p>
          <a:p>
            <a:pPr>
              <a:spcAft>
                <a:spcPts val="1000"/>
              </a:spcAft>
            </a:pPr>
            <a:r>
              <a:rPr sz="1400">
                <a:solidFill>
                  <a:srgbClr val="4A4A4A"/>
                </a:solidFill>
                <a:latin typeface="Calibri"/>
              </a:rPr>
              <a:t>• Root cause found: twin's zero-impedance voltage source made THD_voltage_pct structurally always 0</a:t>
            </a:r>
          </a:p>
          <a:p>
            <a:pPr>
              <a:spcAft>
                <a:spcPts val="1000"/>
              </a:spcAft>
            </a:pPr>
            <a:r>
              <a:rPr sz="1400">
                <a:solidFill>
                  <a:srgbClr val="4A4A4A"/>
                </a:solidFill>
                <a:latin typeface="Calibri"/>
              </a:rPr>
              <a:t>• Fixed: added standard source reactance (X_h = h·X1) + recalibrated harmonics to real THD magnitudes</a:t>
            </a:r>
          </a:p>
          <a:p>
            <a:pPr>
              <a:spcAft>
                <a:spcPts val="1000"/>
              </a:spcAft>
            </a:pPr>
            <a:r>
              <a:rPr sz="1400">
                <a:solidFill>
                  <a:srgbClr val="4A4A4A"/>
                </a:solidFill>
                <a:latin typeface="Calibri"/>
              </a:rPr>
              <a:t>• Result: 93% accuracy</a:t>
            </a:r>
          </a:p>
          <a:p>
            <a:pPr>
              <a:spcAft>
                <a:spcPts val="1000"/>
              </a:spcAft>
            </a:pPr>
            <a:r>
              <a:rPr sz="1400">
                <a:solidFill>
                  <a:srgbClr val="4A4A4A"/>
                </a:solidFill>
                <a:latin typeface="Calibri"/>
              </a:rPr>
              <a:t>• Per-class F1: None 1.00, Harmonic_Distortion 1.00, Voltage_Sag 0.88, Combined_Weather_Electrical 0.84</a:t>
            </a:r>
          </a:p>
          <a:p>
            <a:pPr>
              <a:spcAft>
                <a:spcPts val="1000"/>
              </a:spcAft>
            </a:pPr>
            <a:r>
              <a:rPr sz="1400">
                <a:solidFill>
                  <a:srgbClr val="4A4A4A"/>
                </a:solidFill>
                <a:latin typeface="Calibri"/>
              </a:rPr>
              <a:t>• → First evidence the EEE and CSE halves function as ONE system</a:t>
            </a:r>
          </a:p>
        </p:txBody>
      </p:sp>
      <p:sp>
        <p:nvSpPr>
          <p:cNvPr id="6" name="TextBox 5"/>
          <p:cNvSpPr txBox="1"/>
          <p:nvPr/>
        </p:nvSpPr>
        <p:spPr>
          <a:xfrm>
            <a:off x="11521440" y="6446520"/>
            <a:ext cx="548640" cy="320040"/>
          </a:xfrm>
          <a:prstGeom prst="rect">
            <a:avLst/>
          </a:prstGeom>
          <a:noFill/>
        </p:spPr>
        <p:txBody>
          <a:bodyPr wrap="none">
            <a:spAutoFit/>
          </a:bodyPr>
          <a:lstStyle/>
          <a:p>
            <a:r>
              <a:rPr sz="1100">
                <a:solidFill>
                  <a:srgbClr val="4A4A4A"/>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Cost Quantification — Two Independent Methods</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_cost_sensitivity.png"/>
          <p:cNvPicPr>
            <a:picLocks noChangeAspect="1"/>
          </p:cNvPicPr>
          <p:nvPr/>
        </p:nvPicPr>
        <p:blipFill>
          <a:blip r:embed="rId2"/>
          <a:stretch>
            <a:fillRect/>
          </a:stretch>
        </p:blipFill>
        <p:spPr>
          <a:xfrm>
            <a:off x="2839720" y="1188720"/>
            <a:ext cx="6482080" cy="2651760"/>
          </a:xfrm>
          <a:prstGeom prst="rect">
            <a:avLst/>
          </a:prstGeom>
        </p:spPr>
      </p:pic>
      <p:graphicFrame>
        <p:nvGraphicFramePr>
          <p:cNvPr id="5" name="Table 4"/>
          <p:cNvGraphicFramePr>
            <a:graphicFrameLocks noGrp="1"/>
          </p:cNvGraphicFramePr>
          <p:nvPr/>
        </p:nvGraphicFramePr>
        <p:xfrm>
          <a:off x="1097280" y="4114800"/>
          <a:ext cx="9966960" cy="1645920"/>
        </p:xfrm>
        <a:graphic>
          <a:graphicData uri="http://schemas.openxmlformats.org/drawingml/2006/table">
            <a:tbl>
              <a:tblPr firstRow="1" bandRow="1">
                <a:tableStyleId>{5C22544A-7EE6-4342-B048-85BDC9FD1C3A}</a:tableStyleId>
              </a:tblPr>
              <a:tblGrid>
                <a:gridCol w="2491740"/>
                <a:gridCol w="2491740"/>
                <a:gridCol w="2491740"/>
                <a:gridCol w="2491740"/>
              </a:tblGrid>
              <a:tr h="411480">
                <a:tc>
                  <a:txBody>
                    <a:bodyPr/>
                    <a:lstStyle/>
                    <a:p>
                      <a:pPr algn="ctr"/>
                      <a:r>
                        <a:rPr b="1" sz="1400">
                          <a:solidFill>
                            <a:srgbClr val="FFFFFF"/>
                          </a:solidFill>
                        </a:rPr>
                        <a:t>Config</a:t>
                      </a:r>
                    </a:p>
                  </a:txBody>
                  <a:tcPr>
                    <a:solidFill>
                      <a:srgbClr val="1B2A4A"/>
                    </a:solidFill>
                  </a:tcPr>
                </a:tc>
                <a:tc>
                  <a:txBody>
                    <a:bodyPr/>
                    <a:lstStyle/>
                    <a:p>
                      <a:pPr algn="ctr"/>
                      <a:r>
                        <a:rPr b="1" sz="1400">
                          <a:solidFill>
                            <a:srgbClr val="FFFFFF"/>
                          </a:solidFill>
                        </a:rPr>
                        <a:t>Renewable Frac.</a:t>
                      </a:r>
                    </a:p>
                  </a:txBody>
                  <a:tcPr>
                    <a:solidFill>
                      <a:srgbClr val="1B2A4A"/>
                    </a:solidFill>
                  </a:tcPr>
                </a:tc>
                <a:tc>
                  <a:txBody>
                    <a:bodyPr/>
                    <a:lstStyle/>
                    <a:p>
                      <a:pPr algn="ctr"/>
                      <a:r>
                        <a:rPr b="1" sz="1400">
                          <a:solidFill>
                            <a:srgbClr val="FFFFFF"/>
                          </a:solidFill>
                        </a:rPr>
                        <a:t>COE ($/kWh)</a:t>
                      </a:r>
                    </a:p>
                  </a:txBody>
                  <a:tcPr>
                    <a:solidFill>
                      <a:srgbClr val="1B2A4A"/>
                    </a:solidFill>
                  </a:tcPr>
                </a:tc>
                <a:tc>
                  <a:txBody>
                    <a:bodyPr/>
                    <a:lstStyle/>
                    <a:p>
                      <a:pPr algn="ctr"/>
                      <a:r>
                        <a:rPr b="1" sz="1400">
                          <a:solidFill>
                            <a:srgbClr val="FFFFFF"/>
                          </a:solidFill>
                        </a:rPr>
                        <a:t>NPC ($)</a:t>
                      </a:r>
                    </a:p>
                  </a:txBody>
                  <a:tcPr>
                    <a:solidFill>
                      <a:srgbClr val="1B2A4A"/>
                    </a:solidFill>
                  </a:tcPr>
                </a:tc>
              </a:tr>
              <a:tr h="411480">
                <a:tc>
                  <a:txBody>
                    <a:bodyPr/>
                    <a:lstStyle/>
                    <a:p>
                      <a:pPr algn="ctr"/>
                      <a:r>
                        <a:rPr sz="1300">
                          <a:solidFill>
                            <a:srgbClr val="4A4A4A"/>
                          </a:solidFill>
                        </a:rPr>
                        <a:t>1: PV+WT+FC+BESS</a:t>
                      </a:r>
                    </a:p>
                  </a:txBody>
                  <a:tcPr/>
                </a:tc>
                <a:tc>
                  <a:txBody>
                    <a:bodyPr/>
                    <a:lstStyle/>
                    <a:p>
                      <a:pPr algn="ctr"/>
                      <a:r>
                        <a:rPr sz="1300">
                          <a:solidFill>
                            <a:srgbClr val="4A4A4A"/>
                          </a:solidFill>
                        </a:rPr>
                        <a:t>81.4%</a:t>
                      </a:r>
                    </a:p>
                  </a:txBody>
                  <a:tcPr/>
                </a:tc>
                <a:tc>
                  <a:txBody>
                    <a:bodyPr/>
                    <a:lstStyle/>
                    <a:p>
                      <a:pPr algn="ctr"/>
                      <a:r>
                        <a:rPr sz="1300">
                          <a:solidFill>
                            <a:srgbClr val="4A4A4A"/>
                          </a:solidFill>
                        </a:rPr>
                        <a:t>0.0278</a:t>
                      </a:r>
                    </a:p>
                  </a:txBody>
                  <a:tcPr/>
                </a:tc>
                <a:tc>
                  <a:txBody>
                    <a:bodyPr/>
                    <a:lstStyle/>
                    <a:p>
                      <a:pPr algn="ctr"/>
                      <a:r>
                        <a:rPr sz="1300">
                          <a:solidFill>
                            <a:srgbClr val="4A4A4A"/>
                          </a:solidFill>
                        </a:rPr>
                        <a:t>501,600</a:t>
                      </a:r>
                    </a:p>
                  </a:txBody>
                  <a:tcPr/>
                </a:tc>
              </a:tr>
              <a:tr h="411480">
                <a:tc>
                  <a:txBody>
                    <a:bodyPr/>
                    <a:lstStyle/>
                    <a:p>
                      <a:pPr algn="ctr"/>
                      <a:r>
                        <a:rPr sz="1300">
                          <a:solidFill>
                            <a:srgbClr val="4A4A4A"/>
                          </a:solidFill>
                        </a:rPr>
                        <a:t>2: WT+FC+BESS</a:t>
                      </a:r>
                    </a:p>
                  </a:txBody>
                  <a:tcPr/>
                </a:tc>
                <a:tc>
                  <a:txBody>
                    <a:bodyPr/>
                    <a:lstStyle/>
                    <a:p>
                      <a:pPr algn="ctr"/>
                      <a:r>
                        <a:rPr sz="1300">
                          <a:solidFill>
                            <a:srgbClr val="4A4A4A"/>
                          </a:solidFill>
                        </a:rPr>
                        <a:t>53.3%</a:t>
                      </a:r>
                    </a:p>
                  </a:txBody>
                  <a:tcPr/>
                </a:tc>
                <a:tc>
                  <a:txBody>
                    <a:bodyPr/>
                    <a:lstStyle/>
                    <a:p>
                      <a:pPr algn="ctr"/>
                      <a:r>
                        <a:rPr sz="1300">
                          <a:solidFill>
                            <a:srgbClr val="4A4A4A"/>
                          </a:solidFill>
                        </a:rPr>
                        <a:t>0.0671</a:t>
                      </a:r>
                    </a:p>
                  </a:txBody>
                  <a:tcPr/>
                </a:tc>
                <a:tc>
                  <a:txBody>
                    <a:bodyPr/>
                    <a:lstStyle/>
                    <a:p>
                      <a:pPr algn="ctr"/>
                      <a:r>
                        <a:rPr sz="1300">
                          <a:solidFill>
                            <a:srgbClr val="4A4A4A"/>
                          </a:solidFill>
                        </a:rPr>
                        <a:t>736,617</a:t>
                      </a:r>
                    </a:p>
                  </a:txBody>
                  <a:tcPr/>
                </a:tc>
              </a:tr>
              <a:tr h="411480">
                <a:tc>
                  <a:txBody>
                    <a:bodyPr/>
                    <a:lstStyle/>
                    <a:p>
                      <a:pPr algn="ctr"/>
                      <a:r>
                        <a:rPr sz="1300">
                          <a:solidFill>
                            <a:srgbClr val="4A4A4A"/>
                          </a:solidFill>
                        </a:rPr>
                        <a:t>3: FC+BESS only</a:t>
                      </a:r>
                    </a:p>
                  </a:txBody>
                  <a:tcPr/>
                </a:tc>
                <a:tc>
                  <a:txBody>
                    <a:bodyPr/>
                    <a:lstStyle/>
                    <a:p>
                      <a:pPr algn="ctr"/>
                      <a:r>
                        <a:rPr sz="1300">
                          <a:solidFill>
                            <a:srgbClr val="4A4A4A"/>
                          </a:solidFill>
                        </a:rPr>
                        <a:t>0.0%</a:t>
                      </a:r>
                    </a:p>
                  </a:txBody>
                  <a:tcPr/>
                </a:tc>
                <a:tc>
                  <a:txBody>
                    <a:bodyPr/>
                    <a:lstStyle/>
                    <a:p>
                      <a:pPr algn="ctr"/>
                      <a:r>
                        <a:rPr sz="1300">
                          <a:solidFill>
                            <a:srgbClr val="4A4A4A"/>
                          </a:solidFill>
                        </a:rPr>
                        <a:t>0.1032</a:t>
                      </a:r>
                    </a:p>
                  </a:txBody>
                  <a:tcPr/>
                </a:tc>
                <a:tc>
                  <a:txBody>
                    <a:bodyPr/>
                    <a:lstStyle/>
                    <a:p>
                      <a:pPr algn="ctr"/>
                      <a:r>
                        <a:rPr sz="1300">
                          <a:solidFill>
                            <a:srgbClr val="4A4A4A"/>
                          </a:solidFill>
                        </a:rPr>
                        <a:t>1,120,089</a:t>
                      </a:r>
                    </a:p>
                  </a:txBody>
                  <a:tcPr/>
                </a:tc>
              </a:tr>
            </a:tbl>
          </a:graphicData>
        </a:graphic>
      </p:graphicFrame>
      <p:sp>
        <p:nvSpPr>
          <p:cNvPr id="6" name="TextBox 5"/>
          <p:cNvSpPr txBox="1"/>
          <p:nvPr/>
        </p:nvSpPr>
        <p:spPr>
          <a:xfrm>
            <a:off x="548640" y="5943600"/>
            <a:ext cx="11064240" cy="5029200"/>
          </a:xfrm>
          <a:prstGeom prst="rect">
            <a:avLst/>
          </a:prstGeom>
          <a:noFill/>
        </p:spPr>
        <p:txBody>
          <a:bodyPr wrap="square">
            <a:spAutoFit/>
          </a:bodyPr>
          <a:lstStyle/>
          <a:p>
            <a:pPr>
              <a:spcAft>
                <a:spcPts val="0"/>
              </a:spcAft>
            </a:pPr>
            <a:r>
              <a:rPr sz="1400">
                <a:solidFill>
                  <a:srgbClr val="4A4A4A"/>
                </a:solidFill>
                <a:latin typeface="Calibri"/>
              </a:rPr>
              <a:t>• Twin Monte Carlo (200 runs, ±20% param. uncertainty): 26,955 BDT/yr, 90% CI [19,623, 34,171]</a:t>
            </a:r>
          </a:p>
        </p:txBody>
      </p:sp>
      <p:sp>
        <p:nvSpPr>
          <p:cNvPr id="7" name="TextBox 6"/>
          <p:cNvSpPr txBox="1"/>
          <p:nvPr/>
        </p:nvSpPr>
        <p:spPr>
          <a:xfrm>
            <a:off x="11521440" y="6446520"/>
            <a:ext cx="548640" cy="320040"/>
          </a:xfrm>
          <a:prstGeom prst="rect">
            <a:avLst/>
          </a:prstGeom>
          <a:noFill/>
        </p:spPr>
        <p:txBody>
          <a:bodyPr wrap="none">
            <a:spAutoFit/>
          </a:bodyPr>
          <a:lstStyle/>
          <a:p>
            <a:r>
              <a:rPr sz="1100">
                <a:solidFill>
                  <a:srgbClr val="4A4A4A"/>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1B2A4A"/>
                </a:solidFill>
                <a:latin typeface="Calibri"/>
              </a:rPr>
              <a:t>External Validation: Mesa Del Sol (USA)</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_mesa_del_sol.png"/>
          <p:cNvPicPr>
            <a:picLocks noChangeAspect="1"/>
          </p:cNvPicPr>
          <p:nvPr/>
        </p:nvPicPr>
        <p:blipFill>
          <a:blip r:embed="rId2"/>
          <a:stretch>
            <a:fillRect/>
          </a:stretch>
        </p:blipFill>
        <p:spPr>
          <a:xfrm>
            <a:off x="2488474" y="1188720"/>
            <a:ext cx="7184571" cy="4572000"/>
          </a:xfrm>
          <a:prstGeom prst="rect">
            <a:avLst/>
          </a:prstGeom>
        </p:spPr>
      </p:pic>
      <p:sp>
        <p:nvSpPr>
          <p:cNvPr id="5" name="TextBox 4"/>
          <p:cNvSpPr txBox="1"/>
          <p:nvPr/>
        </p:nvSpPr>
        <p:spPr>
          <a:xfrm>
            <a:off x="548640" y="5852160"/>
            <a:ext cx="11064240" cy="5029200"/>
          </a:xfrm>
          <a:prstGeom prst="rect">
            <a:avLst/>
          </a:prstGeom>
          <a:noFill/>
        </p:spPr>
        <p:txBody>
          <a:bodyPr wrap="square">
            <a:spAutoFit/>
          </a:bodyPr>
          <a:lstStyle/>
          <a:p>
            <a:pPr>
              <a:spcAft>
                <a:spcPts val="0"/>
              </a:spcAft>
            </a:pPr>
            <a:r>
              <a:rPr sz="1300">
                <a:solidFill>
                  <a:srgbClr val="4A4A4A"/>
                </a:solidFill>
                <a:latin typeface="Calibri"/>
              </a:rPr>
              <a:t>• Independent real microgrid (60 Hz, ~484 V) — normalized V/f behavior checked against the twin's constant-V/f-between-events assumption. Real std: freq ~0.03% p.u., voltage ~0.5–0.6% p.u., even with no fault scripted — concrete evidence the twin's idealization is real, not negligible.</a:t>
            </a:r>
          </a:p>
        </p:txBody>
      </p:sp>
      <p:sp>
        <p:nvSpPr>
          <p:cNvPr id="6" name="TextBox 5"/>
          <p:cNvSpPr txBox="1"/>
          <p:nvPr/>
        </p:nvSpPr>
        <p:spPr>
          <a:xfrm>
            <a:off x="11521440" y="6446520"/>
            <a:ext cx="548640" cy="320040"/>
          </a:xfrm>
          <a:prstGeom prst="rect">
            <a:avLst/>
          </a:prstGeom>
          <a:noFill/>
        </p:spPr>
        <p:txBody>
          <a:bodyPr wrap="none">
            <a:spAutoFit/>
          </a:bodyPr>
          <a:lstStyle/>
          <a:p>
            <a:r>
              <a:rPr sz="1100">
                <a:solidFill>
                  <a:srgbClr val="4A4A4A"/>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3000" b="1">
                <a:solidFill>
                  <a:srgbClr val="FFFFFF"/>
                </a:solidFill>
                <a:latin typeface="Calibri"/>
              </a:rPr>
              <a:t>Results Summary &amp; Conclusion</a:t>
            </a:r>
          </a:p>
        </p:txBody>
      </p:sp>
      <p:sp>
        <p:nvSpPr>
          <p:cNvPr id="3" name="Rectangle 2"/>
          <p:cNvSpPr/>
          <p:nvPr/>
        </p:nvSpPr>
        <p:spPr>
          <a:xfrm>
            <a:off x="457200" y="1051560"/>
            <a:ext cx="11247120" cy="3175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3291840"/>
          </a:xfrm>
          <a:prstGeom prst="rect">
            <a:avLst/>
          </a:prstGeom>
          <a:noFill/>
        </p:spPr>
        <p:txBody>
          <a:bodyPr wrap="square">
            <a:spAutoFit/>
          </a:bodyPr>
          <a:lstStyle/>
          <a:p>
            <a:pPr>
              <a:spcAft>
                <a:spcPts val="600"/>
              </a:spcAft>
            </a:pPr>
            <a:r>
              <a:rPr sz="1700">
                <a:solidFill>
                  <a:srgbClr val="FFFFFF"/>
                </a:solidFill>
                <a:latin typeface="Calibri"/>
              </a:rPr>
              <a:t>• THD_i: 27.13% → 2.07%</a:t>
            </a:r>
          </a:p>
          <a:p>
            <a:pPr>
              <a:spcAft>
                <a:spcPts val="600"/>
              </a:spcAft>
            </a:pPr>
            <a:r>
              <a:rPr sz="1700">
                <a:solidFill>
                  <a:srgbClr val="FFFFFF"/>
                </a:solidFill>
                <a:latin typeface="Calibri"/>
              </a:rPr>
              <a:t>• Disturbance classifier: 99.7% acc.</a:t>
            </a:r>
          </a:p>
          <a:p>
            <a:pPr>
              <a:spcAft>
                <a:spcPts val="600"/>
              </a:spcAft>
            </a:pPr>
            <a:r>
              <a:rPr sz="1700">
                <a:solidFill>
                  <a:srgbClr val="FFFFFF"/>
                </a:solidFill>
                <a:latin typeface="Calibri"/>
              </a:rPr>
              <a:t>• Anomaly detector: ROC-AUC 0.70 vs. 0.50 (null control)</a:t>
            </a:r>
          </a:p>
          <a:p>
            <a:pPr>
              <a:spcAft>
                <a:spcPts val="600"/>
              </a:spcAft>
            </a:pPr>
            <a:r>
              <a:rPr sz="1700">
                <a:solidFill>
                  <a:srgbClr val="FFFFFF"/>
                </a:solidFill>
                <a:latin typeface="Calibri"/>
              </a:rPr>
              <a:t>• Sim-to-real bridge: 93% acc.</a:t>
            </a:r>
          </a:p>
          <a:p>
            <a:pPr>
              <a:spcAft>
                <a:spcPts val="600"/>
              </a:spcAft>
            </a:pPr>
            <a:r>
              <a:rPr sz="1700">
                <a:solidFill>
                  <a:srgbClr val="FFFFFF"/>
                </a:solidFill>
                <a:latin typeface="Calibri"/>
              </a:rPr>
              <a:t>• Cost: 26,955 BDT/yr, 90% CI [19.6k, 34.2k]</a:t>
            </a:r>
          </a:p>
          <a:p>
            <a:pPr>
              <a:spcAft>
                <a:spcPts val="600"/>
              </a:spcAft>
            </a:pPr>
            <a:r>
              <a:rPr sz="1700">
                <a:solidFill>
                  <a:srgbClr val="FFFFFF"/>
                </a:solidFill>
                <a:latin typeface="Calibri"/>
              </a:rPr>
              <a:t>• HOMER: 81.4% RE → $0.0278/kWh</a:t>
            </a:r>
          </a:p>
          <a:p>
            <a:pPr>
              <a:spcAft>
                <a:spcPts val="600"/>
              </a:spcAft>
            </a:pPr>
            <a:r>
              <a:rPr sz="1700">
                <a:solidFill>
                  <a:srgbClr val="FFFFFF"/>
                </a:solidFill>
                <a:latin typeface="Calibri"/>
              </a:rPr>
              <a:t>• External V/f check: real std ≈0.03% (f), ≈0.5–0.6% (V) p.u.</a:t>
            </a:r>
          </a:p>
        </p:txBody>
      </p:sp>
      <p:sp>
        <p:nvSpPr>
          <p:cNvPr id="5" name="TextBox 4"/>
          <p:cNvSpPr txBox="1"/>
          <p:nvPr/>
        </p:nvSpPr>
        <p:spPr>
          <a:xfrm>
            <a:off x="548640" y="4937760"/>
            <a:ext cx="11064240" cy="1645920"/>
          </a:xfrm>
          <a:prstGeom prst="rect">
            <a:avLst/>
          </a:prstGeom>
          <a:noFill/>
        </p:spPr>
        <p:txBody>
          <a:bodyPr wrap="square">
            <a:spAutoFit/>
          </a:bodyPr>
          <a:lstStyle/>
          <a:p>
            <a:r>
              <a:rPr sz="1500" i="1">
                <a:solidFill>
                  <a:srgbClr val="C9D3E5"/>
                </a:solidFill>
              </a:rPr>
              <a:t>Future work: complete Simulink cross-validation, extend the source-impedance fix into the primary twin, revisit dataset provenance once documentary confirmation lands.</a:t>
            </a:r>
          </a:p>
        </p:txBody>
      </p:sp>
      <p:sp>
        <p:nvSpPr>
          <p:cNvPr id="6" name="TextBox 5"/>
          <p:cNvSpPr txBox="1"/>
          <p:nvPr/>
        </p:nvSpPr>
        <p:spPr>
          <a:xfrm>
            <a:off x="11521440" y="6446520"/>
            <a:ext cx="548640" cy="320040"/>
          </a:xfrm>
          <a:prstGeom prst="rect">
            <a:avLst/>
          </a:prstGeom>
          <a:noFill/>
        </p:spPr>
        <p:txBody>
          <a:bodyPr wrap="none">
            <a:spAutoFit/>
          </a:bodyPr>
          <a:lstStyle/>
          <a:p>
            <a:r>
              <a:rPr sz="1100">
                <a:solidFill>
                  <a:srgbClr val="4A4A4A"/>
                </a:solidFil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