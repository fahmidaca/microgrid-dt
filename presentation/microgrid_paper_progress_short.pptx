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64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2194560"/>
            <a:ext cx="137160" cy="2560320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0584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Microgrid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0584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0">
                <a:solidFill>
                  <a:srgbClr val="2A9D8F"/>
                </a:solidFill>
                <a:latin typeface="Calibri"/>
              </a:rPr>
              <a:t>Stability, Power Quality, and Forecasting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0">
                <a:solidFill>
                  <a:srgbClr val="E9C46A"/>
                </a:solidFill>
                <a:latin typeface="Calibri"/>
              </a:rPr>
              <a:t>Condensed progress report - CSE + EEE sides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F4F1DE"/>
                </a:solidFill>
                <a:latin typeface="Calibri"/>
              </a:rPr>
              <a:t>Target venues:  IEEE Trans. Smart Grid (Q1, IF~10)  |  Applied Energy (Q1, IF~11)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94360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606060"/>
                </a:solidFill>
                <a:latin typeface="Consolas"/>
              </a:rPr>
              <a:t>github.com/Fahmidaca/microgrid-dt-1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264653"/>
                </a:solidFill>
                <a:latin typeface="Calibri"/>
              </a:rPr>
              <a:t>The problem  +  project layout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051560"/>
            <a:ext cx="10881360" cy="0"/>
          </a:xfrm>
          <a:prstGeom prst="line">
            <a:avLst/>
          </a:prstGeom>
          <a:ln w="3175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1234440"/>
            <a:ext cx="5486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2A9D8F"/>
                </a:solidFill>
                <a:latin typeface="Calibri"/>
              </a:rPr>
              <a:t>5 questions this project answers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>
                <a:solidFill>
                  <a:srgbClr val="264653"/>
                </a:solidFill>
                <a:latin typeface="Calibri"/>
              </a:rPr>
              <a:t>•  Is the microgrid stable right now?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264653"/>
                </a:solidFill>
                <a:latin typeface="Calibri"/>
              </a:rPr>
              <a:t>•  How much can we trust the model that says yes?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264653"/>
                </a:solidFill>
                <a:latin typeface="Calibri"/>
              </a:rPr>
              <a:t>•  Will THD breach IEEE 519's 5 % limit in the next 5-30 minutes?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264653"/>
                </a:solidFill>
                <a:latin typeface="Calibri"/>
              </a:rPr>
              <a:t>•  Do renewable-heavy scenarios pass IEEE 519 without help?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264653"/>
                </a:solidFill>
                <a:latin typeface="Calibri"/>
              </a:rPr>
              <a:t>•  Can an AI controller beat a fixed control law?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34440"/>
            <a:ext cx="5486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E76F51"/>
                </a:solidFill>
                <a:latin typeface="Calibri"/>
              </a:rPr>
              <a:t>Two halves that meet in the middle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91640"/>
            <a:ext cx="2606040" cy="3200400"/>
          </a:xfrm>
          <a:prstGeom prst="roundRect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/>
            <a:r>
              <a:rPr b="1" sz="1300">
                <a:solidFill>
                  <a:srgbClr val="FFFFFF"/>
                </a:solidFill>
                <a:latin typeface="Calibri"/>
              </a:rPr>
              <a:t>CSE / ML SIDE</a:t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UCI Grid Stability</a:t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5 models x 5 seeds</a:t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MLP  96.05 %</a:t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tau-robustness margin</a:t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(new metric)</a:t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Synthetic 50k dataset</a:t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Compliance + forecasting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1691640"/>
            <a:ext cx="2606040" cy="3200400"/>
          </a:xfrm>
          <a:prstGeom prst="roundRect">
            <a:avLst/>
          </a:prstGeom>
          <a:solidFill>
            <a:srgbClr val="E76F51"/>
          </a:solidFill>
          <a:ln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/>
            <a:r>
              <a:rPr b="1" sz="1300">
                <a:solidFill>
                  <a:srgbClr val="FFFFFF"/>
                </a:solidFill>
                <a:latin typeface="Calibri"/>
              </a:rPr>
              <a:t>EEE / PHYSICS SIDE</a:t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50 Hz / 230 V microgrid</a:t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6-pulse rectifier</a:t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SRF Active Power Filter</a:t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FFT THD analyzer</a:t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Battery ageing + BDT cost</a:t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IEEE 14-bus study</a:t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10 scenarios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120640"/>
            <a:ext cx="11064240" cy="1005840"/>
          </a:xfrm>
          <a:prstGeom prst="roundRect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 algn="ctr"/>
            <a:r>
              <a:rPr sz="1300" b="1">
                <a:solidFill>
                  <a:srgbClr val="E9C46A"/>
                </a:solidFill>
              </a:rPr>
              <a:t>MEETING POINT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EEE compliance table has an "AI-Optimized Control" scenario. That AI is the CSE side's trained ML model.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06060"/>
                </a:solidFill>
                <a:latin typeface="Calibri"/>
              </a:rPr>
              <a:t>Problem + layout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457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0606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264653"/>
                </a:solidFill>
                <a:latin typeface="Calibri"/>
              </a:rPr>
              <a:t>Part 1  -  UCI Grid Stability pipeline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051560"/>
            <a:ext cx="10881360" cy="0"/>
          </a:xfrm>
          <a:prstGeom prst="line">
            <a:avLst/>
          </a:prstGeom>
          <a:ln w="3175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118872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2A9D8F"/>
                </a:solidFill>
                <a:latin typeface="Calibri"/>
              </a:rPr>
              <a:t>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5486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>
                <a:solidFill>
                  <a:srgbClr val="264653"/>
                </a:solidFill>
                <a:latin typeface="Calibri"/>
              </a:rPr>
              <a:t>•  Schafer 2016  -  10,000 snapshots of a 4-bus decentralised grid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264653"/>
                </a:solidFill>
                <a:latin typeface="Calibri"/>
              </a:rPr>
              <a:t>•  12 features (tau1..4, p1..4, g1..4)  -  binary stable/unstable label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264653"/>
                </a:solidFill>
                <a:latin typeface="Calibri"/>
              </a:rPr>
              <a:t>•  Peer-reviewed, still cited in 2024-25 (benchmarks don't expire)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375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2A9D8F"/>
                </a:solidFill>
                <a:latin typeface="Calibri"/>
              </a:rPr>
              <a:t>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49039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>
                <a:solidFill>
                  <a:srgbClr val="264653"/>
                </a:solidFill>
                <a:latin typeface="Calibri"/>
              </a:rPr>
              <a:t>•  5 classifiers (LogReg, RF, HistGB, XGBoost, MLP)  x  5 seeds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264653"/>
                </a:solidFill>
                <a:latin typeface="Calibri"/>
              </a:rPr>
              <a:t>•  80/20 stratified split, deterministic seeds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264653"/>
                </a:solidFill>
                <a:latin typeface="Calibri"/>
              </a:rPr>
              <a:t>•  Paired McNemar + Holm-Bonferroni + bootstrap 95 % CI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264653"/>
                </a:solidFill>
                <a:latin typeface="Calibri"/>
              </a:rPr>
              <a:t>•  All 10 pairwise differences significant at p &lt; 0.05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18872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2A9D8F"/>
                </a:solidFill>
                <a:latin typeface="Calibri"/>
              </a:rPr>
              <a:t>Results  (mean over 5 seeds)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0" y="1600200"/>
          <a:ext cx="51206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280160"/>
                <a:gridCol w="1280160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95 % CI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MLP  (winner)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96.05 %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[95.65, 96.43]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95.72 %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HistGB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94.72 %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[94.28, 95.13]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94.24 %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94.39 %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[93.92, 94.83]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93.87 %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92.16 %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[91.64, 92.70]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91.38 %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LogReg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81.50 %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[80.72, 82.29]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79.58 %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583680" y="4114800"/>
            <a:ext cx="512064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E76F51"/>
                </a:solidFill>
                <a:latin typeface="Calibri"/>
              </a:rPr>
              <a:t>MLP wins on accuracy - but that is only half the story.  The other half (tau-robustness margin) is on the next slide.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06060"/>
                </a:solidFill>
                <a:latin typeface="Calibri"/>
              </a:rPr>
              <a:t>UCI pipeline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6446520"/>
            <a:ext cx="457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0606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64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Novel contribution  -  tau-robustness margin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051560"/>
            <a:ext cx="10881360" cy="0"/>
          </a:xfrm>
          <a:prstGeom prst="line">
            <a:avLst/>
          </a:prstGeom>
          <a:ln w="31750">
            <a:solidFill>
              <a:srgbClr val="E9C4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1234440"/>
            <a:ext cx="56692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E9C46A"/>
                </a:solidFill>
                <a:latin typeface="Calibri"/>
              </a:rPr>
              <a:t>What we defined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5669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F4F1DE"/>
                </a:solidFill>
                <a:latin typeface="Calibri"/>
              </a:rPr>
              <a:t>•  For each correctly-classified test point, binary-search the smallest reaction-time perturbation that flips the prediction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F4F1DE"/>
                </a:solidFill>
                <a:latin typeface="Calibri"/>
              </a:rPr>
              <a:t>•  16 sign patterns on tau1..tau4, clipped to [0.5, 10] s (L_inf norm)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F4F1DE"/>
                </a:solidFill>
                <a:latin typeface="Calibri"/>
              </a:rPr>
              <a:t>•  Result: per-sample safety buffer  -  no prior paper reports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23360"/>
            <a:ext cx="56692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E76F51"/>
                </a:solidFill>
                <a:latin typeface="Calibri"/>
              </a:rPr>
              <a:t>Key insight  -  accuracy != robustness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526280"/>
            <a:ext cx="5669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>
                <a:solidFill>
                  <a:srgbClr val="F4F1DE"/>
                </a:solidFill>
                <a:latin typeface="Calibri"/>
              </a:rPr>
              <a:t>•  MLP:  highest accuracy (96 %)  BUT smallest tau-margin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F4F1DE"/>
                </a:solidFill>
                <a:latin typeface="Calibri"/>
              </a:rPr>
              <a:t>•  LogReg:  lowest accuracy (81.5 %)  BUT largest margin  (stable 1.33 s / unstable 2.12 s)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F4F1DE"/>
                </a:solidFill>
                <a:latin typeface="Calibri"/>
              </a:rPr>
              <a:t>•  Prior accuracy-only reports hide this trade-off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F4F1DE"/>
                </a:solidFill>
                <a:latin typeface="Calibri"/>
              </a:rPr>
              <a:t>•  'More accurate' != 'more deployable' - the publishable insight</a:t>
            </a:r>
          </a:p>
        </p:txBody>
      </p:sp>
      <p:pic>
        <p:nvPicPr>
          <p:cNvPr id="9" name="Picture 8" descr="02_margin_per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371600"/>
            <a:ext cx="4937760" cy="2468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06060"/>
                </a:solidFill>
                <a:latin typeface="Calibri"/>
              </a:rPr>
              <a:t>Novel contribution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457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0606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264653"/>
                </a:solidFill>
                <a:latin typeface="Calibri"/>
              </a:rPr>
              <a:t>Part 2  -  synthetic Bangladesh microgrid dataset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051560"/>
            <a:ext cx="10881360" cy="0"/>
          </a:xfrm>
          <a:prstGeom prst="line">
            <a:avLst/>
          </a:prstGeom>
          <a:ln w="3175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11887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2A9D8F"/>
                </a:solidFill>
                <a:latin typeface="Calibri"/>
              </a:rPr>
              <a:t>50,000 rows  x  50 columns  |  34 days  |  1 sample per minute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64653"/>
                </a:solidFill>
                <a:latin typeface="Calibri"/>
              </a:rPr>
              <a:t>50 columns in 12 categories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669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>
                <a:solidFill>
                  <a:srgbClr val="264653"/>
                </a:solidFill>
                <a:latin typeface="Calibri"/>
              </a:rPr>
              <a:t>•  Time (3), Environment (4), Voltage (4), Current (4)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264653"/>
                </a:solidFill>
                <a:latin typeface="Calibri"/>
              </a:rPr>
              <a:t>•  Power (4), Frequency (3), Harmonics (6), Renewables (3)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264653"/>
                </a:solidFill>
                <a:latin typeface="Calibri"/>
              </a:rPr>
              <a:t>•  Storage (6), Load (2), Mode flags (5), Labels + cost + watermark (6)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264653"/>
                </a:solidFill>
                <a:latin typeface="Calibri"/>
              </a:rPr>
              <a:t>•  Physics-informed:  PV = f(irradiance, NOCT temp),  wind = f(speed^3)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264653"/>
                </a:solidFill>
                <a:latin typeface="Calibri"/>
              </a:rPr>
              <a:t>•  THD grows with RE penetration + nonlinear load,  falls with ESS + AI control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737360"/>
            <a:ext cx="5120640" cy="2743200"/>
          </a:xfrm>
          <a:prstGeom prst="roundRect">
            <a:avLst/>
          </a:prstGeom>
          <a:solidFill>
            <a:srgbClr val="E76F51"/>
          </a:solidFill>
          <a:ln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09728"/>
          <a:lstStyle/>
          <a:p>
            <a:pPr algn="l"/>
            <a:r>
              <a:rPr sz="1400" b="1">
                <a:solidFill>
                  <a:srgbClr val="FFFFFF"/>
                </a:solidFill>
              </a:rPr>
              <a:t>IMPORTANT  -  pipeline testing only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/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Every row watermarked with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     source = SYNTHETIC_GENERATOR_v1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/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Before publication, real Simulink output from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the EEE side's IEEE 14-bus model will replace it.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/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(Faisal Sir: fabricated data is a top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 research-integrity violation.)</a:t>
            </a:r>
          </a:p>
        </p:txBody>
      </p:sp>
      <p:pic>
        <p:nvPicPr>
          <p:cNvPr id="9" name="Picture 8" descr="03_daily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754880"/>
            <a:ext cx="5669280" cy="2267712"/>
          </a:xfrm>
          <a:prstGeom prst="rect">
            <a:avLst/>
          </a:prstGeom>
        </p:spPr>
      </p:pic>
      <p:pic>
        <p:nvPicPr>
          <p:cNvPr id="10" name="Picture 9" descr="04_correl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4572000"/>
            <a:ext cx="5120640" cy="4480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06060"/>
                </a:solidFill>
                <a:latin typeface="Calibri"/>
              </a:rPr>
              <a:t>Synthetic dataset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457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0606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264653"/>
                </a:solidFill>
                <a:latin typeface="Calibri"/>
              </a:rPr>
              <a:t>Downstream ML on the synthetic dataset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051560"/>
            <a:ext cx="10881360" cy="0"/>
          </a:xfrm>
          <a:prstGeom prst="line">
            <a:avLst/>
          </a:prstGeom>
          <a:ln w="3175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88720"/>
            <a:ext cx="5760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A9D8F"/>
                </a:solidFill>
                <a:latin typeface="Calibri"/>
              </a:rPr>
              <a:t>IEEE 519 compliance  (PASS / MARGINAL / FAIL)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760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06060"/>
                </a:solidFill>
                <a:latin typeface="Calibri"/>
              </a:rPr>
              <a:t>43 features  |  V-THD &amp; harmonics dropped as leakage  |  5 models x 5 seeds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965960"/>
          <a:ext cx="57607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</a:tblGrid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Macro-F1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XGBoost (winner)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99.82 %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99.55 %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99.81 %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99.41 %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HistGB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99.79 %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99.36 %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LogReg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99.67 %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98.90 %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MLP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99.18 %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97.20 %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4297680"/>
            <a:ext cx="5760720" cy="1737360"/>
          </a:xfrm>
          <a:prstGeom prst="roundRect">
            <a:avLst/>
          </a:prstGeom>
          <a:solidFill>
            <a:srgbClr val="E76F51"/>
          </a:solidFill>
          <a:ln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/>
            <a:r>
              <a:rPr b="1" sz="1300">
                <a:solidFill>
                  <a:srgbClr val="FFFFFF"/>
                </a:solidFill>
                <a:latin typeface="Calibri"/>
              </a:rPr>
              <a:t>Honest note</a:t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Numbers are too clean - synthetic physics is</a:t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deterministic, so features like RE penetration</a:t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essentially determine the label.</a:t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Real Simulink data will drop accuracies into</a:t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the 85-92 % range  -  a better paper story.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18872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A9D8F"/>
                </a:solidFill>
                <a:latin typeface="Calibri"/>
              </a:rPr>
              <a:t>Multi-horizon V-THD forecasting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6002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06060"/>
                </a:solidFill>
                <a:latin typeface="Calibri"/>
              </a:rPr>
              <a:t>30-min lookback  -&gt;  predict at 5 / 15 / 30 min ahead  |  chronological split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0" y="1965960"/>
          <a:ext cx="5486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 (5 min)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RMSE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R^2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EW-F1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Persistence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1.50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-0.67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0.088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MLP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1.07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+0.15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LSTM (winner)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1.06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+0.16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GRU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1.07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+0.16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64653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6400800" y="4297680"/>
            <a:ext cx="5486400" cy="1737360"/>
          </a:xfrm>
          <a:prstGeom prst="roundRect">
            <a:avLst/>
          </a:prstGeom>
          <a:solidFill>
            <a:srgbClr val="E76F51"/>
          </a:solidFill>
          <a:ln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/>
            <a:r>
              <a:rPr b="1" sz="1300">
                <a:solidFill>
                  <a:srgbClr val="FFFFFF"/>
                </a:solidFill>
                <a:latin typeface="Calibri"/>
              </a:rPr>
              <a:t>Honest note</a:t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Deep models beat persistence by 30 % on RMSE</a:t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-  the pipeline extracts real signal.</a:t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BUT early-warning F1 = 0 (breaches are only 2 %,</a:t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MSE hugs the mean).  Next step:  binary breach</a:t>
            </a:r>
          </a:p>
          <a:p>
            <a:pPr algn="l"/>
            <a:r>
              <a:rPr sz="1000">
                <a:solidFill>
                  <a:srgbClr val="FFFFFF"/>
                </a:solidFill>
                <a:latin typeface="Calibri"/>
              </a:rPr>
              <a:t>classification with class-weighted loss.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06060"/>
                </a:solidFill>
                <a:latin typeface="Calibri"/>
              </a:rPr>
              <a:t>Downstream ML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46520"/>
            <a:ext cx="457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0606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264653"/>
                </a:solidFill>
                <a:latin typeface="Calibri"/>
              </a:rPr>
              <a:t>EEE physics simulation  +  the bridge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051560"/>
            <a:ext cx="10881360" cy="0"/>
          </a:xfrm>
          <a:prstGeom prst="line">
            <a:avLst/>
          </a:prstGeom>
          <a:ln w="3175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1188720"/>
            <a:ext cx="56692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2A9D8F"/>
                </a:solidFill>
                <a:latin typeface="Calibri"/>
              </a:rPr>
              <a:t>Bangladesh PV microgrid digital twin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669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>
                <a:solidFill>
                  <a:srgbClr val="264653"/>
                </a:solidFill>
                <a:latin typeface="Calibri"/>
              </a:rPr>
              <a:t>•  3-phase 50 Hz / 230 V + 6-pulse rectifier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264653"/>
                </a:solidFill>
                <a:latin typeface="Calibri"/>
              </a:rPr>
              <a:t>•  SRF Active Power Filter + FFT THD analyzer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264653"/>
                </a:solidFill>
                <a:latin typeface="Calibri"/>
              </a:rPr>
              <a:t>•  Battery ageing + BDT cost twin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264653"/>
                </a:solidFill>
                <a:latin typeface="Calibri"/>
              </a:rPr>
              <a:t>•  Runs in MATLAB Simulink AND Python (same math)</a:t>
            </a:r>
          </a:p>
        </p:txBody>
      </p:sp>
      <p:pic>
        <p:nvPicPr>
          <p:cNvPr id="7" name="Picture 6" descr="02_thd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657600"/>
            <a:ext cx="5669280" cy="22677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80644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E76F51"/>
                </a:solidFill>
                <a:latin typeface="Calibri"/>
              </a:rPr>
              <a:t>Result:  THD_i  27.1 %  -&gt;  2.1 %  when APF turns 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188720"/>
            <a:ext cx="51206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E76F51"/>
                </a:solidFill>
                <a:latin typeface="Calibri"/>
              </a:rPr>
              <a:t>How the two halves meet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691640"/>
            <a:ext cx="51206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64653"/>
                </a:solidFill>
                <a:latin typeface="Calibri"/>
              </a:rPr>
              <a:t>The EEE compliance table has a scenario called 'AI-Optimized Control' that achieves the best THD.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2743200"/>
            <a:ext cx="5120640" cy="1097280"/>
          </a:xfrm>
          <a:prstGeom prst="roundRect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/>
            <a:r>
              <a:rPr b="1" sz="1500">
                <a:solidFill>
                  <a:srgbClr val="E9C46A"/>
                </a:solidFill>
                <a:latin typeface="Calibri"/>
              </a:rPr>
              <a:t>That AI is the CSE side's</a:t>
            </a:r>
          </a:p>
          <a:p>
            <a:pPr algn="l"/>
            <a:r>
              <a:rPr sz="1500">
                <a:solidFill>
                  <a:srgbClr val="E9C46A"/>
                </a:solidFill>
                <a:latin typeface="Calibri"/>
              </a:rPr>
              <a:t>trained ML model.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402336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Calibri"/>
              </a:rPr>
              <a:t>Why it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43484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264653"/>
                </a:solidFill>
                <a:latin typeface="Calibri"/>
              </a:rPr>
              <a:t>•  Without the bridge = two boring papers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264653"/>
                </a:solidFill>
                <a:latin typeface="Calibri"/>
              </a:rPr>
              <a:t>•  With the bridge = one interdisciplinary paper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264653"/>
                </a:solidFill>
                <a:latin typeface="Calibri"/>
              </a:rPr>
              <a:t>•  The ML controls the physical microgrid,  Simulink physics validates it beats fixed control laws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264653"/>
                </a:solidFill>
                <a:latin typeface="Calibri"/>
              </a:rPr>
              <a:t>•  Unlocks Q1 venues instead of two mid-tier ones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06060"/>
                </a:solidFill>
                <a:latin typeface="Calibri"/>
              </a:rPr>
              <a:t>EEE + bridge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46520"/>
            <a:ext cx="457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0606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64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Honesty  +  gaps  +  thanks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051560"/>
            <a:ext cx="10881360" cy="0"/>
          </a:xfrm>
          <a:prstGeom prst="line">
            <a:avLst/>
          </a:prstGeom>
          <a:ln w="31750">
            <a:solidFill>
              <a:srgbClr val="E9C4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1188720"/>
            <a:ext cx="5486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E9C46A"/>
                </a:solidFill>
                <a:latin typeface="Calibri"/>
              </a:rPr>
              <a:t>Honesty notes  -  what we do NOT claim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F4F1DE"/>
                </a:solidFill>
                <a:latin typeface="Calibri"/>
              </a:rPr>
              <a:t>•  UCI is static  -  no 'early warning' claim on it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F4F1DE"/>
                </a:solidFill>
                <a:latin typeface="Calibri"/>
              </a:rPr>
              <a:t>•  No claim of transfer to real PMU / SCADA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F4F1DE"/>
                </a:solidFill>
                <a:latin typeface="Calibri"/>
              </a:rPr>
              <a:t>•  Tau-margin is a decision property, not a grid guarantee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F4F1DE"/>
                </a:solidFill>
                <a:latin typeface="Calibri"/>
              </a:rPr>
              <a:t>•  Synthetic dataset carries a watermark; not for publication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F4F1DE"/>
                </a:solidFill>
                <a:latin typeface="Calibri"/>
              </a:rPr>
              <a:t>•  Forecaster's zero early-warning F1 is a real limitation, not hidden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486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E76F51"/>
                </a:solidFill>
                <a:latin typeface="Calibri"/>
              </a:rPr>
              <a:t>What still needs to happen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9164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2A9D8F"/>
                </a:solidFill>
                <a:latin typeface="Calibri"/>
              </a:rPr>
              <a:t>CSE side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57400"/>
            <a:ext cx="5486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F4F1DE"/>
                </a:solidFill>
                <a:latin typeface="Calibri"/>
              </a:rPr>
              <a:t>•  Binary breach classifier with class-weighted loss</a:t>
            </a:r>
          </a:p>
          <a:p>
            <a:pPr algn="l">
              <a:spcAft>
                <a:spcPts val="300"/>
              </a:spcAft>
            </a:pPr>
            <a:r>
              <a:rPr sz="1000">
                <a:solidFill>
                  <a:srgbClr val="F4F1DE"/>
                </a:solidFill>
                <a:latin typeface="Calibri"/>
              </a:rPr>
              <a:t>•  Multi-seed + bootstrap CI on forecasting</a:t>
            </a:r>
          </a:p>
          <a:p>
            <a:pPr algn="l">
              <a:spcAft>
                <a:spcPts val="300"/>
              </a:spcAft>
            </a:pPr>
            <a:r>
              <a:rPr sz="1000">
                <a:solidFill>
                  <a:srgbClr val="F4F1DE"/>
                </a:solidFill>
                <a:latin typeface="Calibri"/>
              </a:rPr>
              <a:t>•  Reproducibility audit on synthetic side</a:t>
            </a:r>
          </a:p>
          <a:p>
            <a:pPr algn="l">
              <a:spcAft>
                <a:spcPts val="300"/>
              </a:spcAft>
            </a:pPr>
            <a:r>
              <a:rPr sz="1000">
                <a:solidFill>
                  <a:srgbClr val="F4F1DE"/>
                </a:solidFill>
                <a:latin typeface="Calibri"/>
              </a:rPr>
              <a:t>•  Draft the LaTeX manuscript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61188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2A9D8F"/>
                </a:solidFill>
                <a:latin typeface="Calibri"/>
              </a:rPr>
              <a:t>EEE side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977639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F4F1DE"/>
                </a:solidFill>
                <a:latin typeface="Calibri"/>
              </a:rPr>
              <a:t>•  Finish IEEE 14-bus parametric-study runs</a:t>
            </a:r>
          </a:p>
          <a:p>
            <a:pPr algn="l">
              <a:spcAft>
                <a:spcPts val="300"/>
              </a:spcAft>
            </a:pPr>
            <a:r>
              <a:rPr sz="1000">
                <a:solidFill>
                  <a:srgbClr val="F4F1DE"/>
                </a:solidFill>
                <a:latin typeface="Calibri"/>
              </a:rPr>
              <a:t>•  Formal Schafer 2016 reproduction on 4-bus model</a:t>
            </a:r>
          </a:p>
          <a:p>
            <a:pPr algn="l">
              <a:spcAft>
                <a:spcPts val="300"/>
              </a:spcAft>
            </a:pPr>
            <a:r>
              <a:rPr sz="1000">
                <a:solidFill>
                  <a:srgbClr val="F4F1DE"/>
                </a:solidFill>
                <a:latin typeface="Calibri"/>
              </a:rPr>
              <a:t>•  Send real .slx output to replace synthetic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212080"/>
            <a:ext cx="11064240" cy="1051560"/>
          </a:xfrm>
          <a:prstGeom prst="roundRect">
            <a:avLst/>
          </a:prstGeom>
          <a:solidFill>
            <a:srgbClr val="E76F51"/>
          </a:solidFill>
          <a:ln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/>
            <a:r>
              <a:rPr sz="2000" b="1">
                <a:solidFill>
                  <a:srgbClr val="FFFFFF"/>
                </a:solidFill>
              </a:rPr>
              <a:t>Thanks  -  questions welcome</a:t>
            </a:r>
          </a:p>
          <a:p>
            <a:pPr algn="ctr"/>
            <a:r>
              <a:rPr sz="1300">
                <a:solidFill>
                  <a:srgbClr val="E9C46A"/>
                </a:solidFill>
                <a:latin typeface="Consolas"/>
              </a:rPr>
              <a:t>github.com/Fahmidaca/microgrid-dt-1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06060"/>
                </a:solidFill>
                <a:latin typeface="Calibri"/>
              </a:rPr>
              <a:t>Wrap-up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46520"/>
            <a:ext cx="457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0606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