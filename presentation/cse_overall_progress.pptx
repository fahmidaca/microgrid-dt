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2A9D8F"/>
            </a:solidFill>
          </c:spPr>
          <c:cat>
            <c:strRef>
              <c:f>Sheet1!$A$2:$A$6</c:f>
              <c:strCache>
                <c:ptCount val="5"/>
                <c:pt idx="0">
                  <c:v>XGBoost</c:v>
                </c:pt>
                <c:pt idx="1">
                  <c:v>RF</c:v>
                </c:pt>
                <c:pt idx="2">
                  <c:v>HistGB</c:v>
                </c:pt>
                <c:pt idx="3">
                  <c:v>LogReg</c:v>
                </c:pt>
                <c:pt idx="4">
                  <c:v>MLP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99.82</c:v>
                </c:pt>
                <c:pt idx="1">
                  <c:v>99.81</c:v>
                </c:pt>
                <c:pt idx="2">
                  <c:v>99.79</c:v>
                </c:pt>
                <c:pt idx="3">
                  <c:v>99.67</c:v>
                </c:pt>
                <c:pt idx="4">
                  <c:v>99.18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>
                  <a:solidFill>
                    <a:srgbClr val="26465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137160" cy="3749039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51560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CSE-Side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2A9D8F"/>
                </a:solidFill>
                <a:latin typeface="Calibri"/>
              </a:rPr>
              <a:t>Microgrid Digital Twin — Stability, Power Quality, and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3756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E9C46A"/>
                </a:solidFill>
                <a:latin typeface="Calibri"/>
              </a:rPr>
              <a:t>Stability  •  Compliance  •  Forecasting  •  Cyber-Resilience  •  Explainability  • 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F4F1DE"/>
                </a:solidFill>
                <a:latin typeface="Calibri"/>
              </a:rPr>
              <a:t>5 datasets-to-model pipelines, all owned end-to-end by the CSE 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E9C46A"/>
                </a:solidFill>
                <a:latin typeface="Consolas"/>
              </a:rPr>
              <a:t>github.com/Fahmidaca/microgrid-dt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264653"/>
                </a:solidFill>
                <a:latin typeface="Calibri"/>
              </a:rPr>
              <a:t>CSE scope — 3 datasets, 5 pipelines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51560"/>
            <a:ext cx="1088136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371600"/>
            <a:ext cx="3611880" cy="356616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/>
            <a:r>
              <a:rPr b="1" sz="1500">
                <a:solidFill>
                  <a:srgbClr val="FFFFFF"/>
                </a:solidFill>
                <a:latin typeface="Calibri"/>
              </a:rPr>
              <a:t>UCI Grid Stability</a:t>
            </a:r>
          </a:p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(public benchmark)</a:t>
            </a:r>
          </a:p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10,000 rows, 12 features</a:t>
            </a:r>
          </a:p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5 classifiers x 5 seeds</a:t>
            </a:r>
          </a:p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+ tau-robustness margin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371600"/>
            <a:ext cx="3611880" cy="3566160"/>
          </a:xfrm>
          <a:prstGeom prst="roundRect">
            <a:avLst/>
          </a:prstGeom>
          <a:solidFill>
            <a:srgbClr val="E76F51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/>
            <a:r>
              <a:rPr b="1" sz="1500">
                <a:solidFill>
                  <a:srgbClr val="FFFFFF"/>
                </a:solidFill>
                <a:latin typeface="Calibri"/>
              </a:rPr>
              <a:t>Synthetic Bangladesh</a:t>
            </a:r>
          </a:p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microgrid dataset</a:t>
            </a:r>
          </a:p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50,000 rows x 50 cols</a:t>
            </a:r>
          </a:p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IEEE 519 compliance classifier</a:t>
            </a:r>
          </a:p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Multi-horizon THD forecasting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371600"/>
            <a:ext cx="3611880" cy="3566160"/>
          </a:xfrm>
          <a:prstGeom prst="roundRect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/>
            <a:r>
              <a:rPr b="1" sz="1500">
                <a:solidFill>
                  <a:srgbClr val="FFFFFF"/>
                </a:solidFill>
                <a:latin typeface="Calibri"/>
              </a:rPr>
              <a:t>Power-quality disturbance</a:t>
            </a:r>
          </a:p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dataset (Jamalpur, field data)</a:t>
            </a:r>
          </a:p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5,000 rows x 16 cols</a:t>
            </a:r>
          </a:p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Anomaly detection + prediction</a:t>
            </a:r>
          </a:p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SHAP explainability +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120640"/>
            <a:ext cx="11064240" cy="1005840"/>
          </a:xfrm>
          <a:prstGeom prst="roundRect">
            <a:avLst/>
          </a:prstGeom>
          <a:solidFill>
            <a:srgbClr val="E9C46A"/>
          </a:solidFill>
          <a:ln>
            <a:solidFill>
              <a:srgbClr val="E9C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/>
            <a:r>
              <a:rPr sz="1300">
                <a:solidFill>
                  <a:srgbClr val="264653"/>
                </a:solidFill>
                <a:latin typeface="Calibri"/>
              </a:rPr>
              <a:t>Two of the three datasets were compared side-by-side on the same anomaly-detection method rather than merged — incompatible schemas, but a very useful comparison (slide 5).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CSE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264653"/>
                </a:solidFill>
                <a:latin typeface="Calibri"/>
              </a:rPr>
              <a:t>UCI Grid Stability  +  tau-robustness margin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51560"/>
            <a:ext cx="1088136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51206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MLP (winner)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96.05%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95.72%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HistGB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94.72%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94.24%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94.39%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93.87%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RF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92.16%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91.38%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LogReg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81.50%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4653"/>
                          </a:solidFill>
                          <a:latin typeface="Calibri"/>
                        </a:rPr>
                        <a:t>79.58%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3657600"/>
            <a:ext cx="5120640" cy="2468880"/>
          </a:xfrm>
          <a:prstGeom prst="roundRect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/>
            <a:r>
              <a:rPr b="1" sz="1500">
                <a:solidFill>
                  <a:srgbClr val="E9C46A"/>
                </a:solidFill>
                <a:latin typeface="Calibri"/>
              </a:rPr>
              <a:t>Novel: tau-robustness margin</a:t>
            </a:r>
          </a:p>
          <a:p>
            <a:pPr algn="l"/>
            <a:r>
              <a:rPr sz="1200">
                <a:solidFill>
                  <a:srgbClr val="E9C46A"/>
                </a:solidFill>
                <a:latin typeface="Calibri"/>
              </a:rPr>
              <a:t/>
            </a:r>
          </a:p>
          <a:p>
            <a:pPr algn="l"/>
            <a:r>
              <a:rPr sz="1200">
                <a:solidFill>
                  <a:srgbClr val="E9C46A"/>
                </a:solidFill>
                <a:latin typeface="Calibri"/>
              </a:rPr>
              <a:t>Per-sample: smallest reaction-time change</a:t>
            </a:r>
          </a:p>
          <a:p>
            <a:pPr algn="l"/>
            <a:r>
              <a:rPr sz="1200">
                <a:solidFill>
                  <a:srgbClr val="E9C46A"/>
                </a:solidFill>
                <a:latin typeface="Calibri"/>
              </a:rPr>
              <a:t>that flips the model's prediction.</a:t>
            </a:r>
          </a:p>
          <a:p>
            <a:pPr algn="l"/>
            <a:r>
              <a:rPr sz="1200">
                <a:solidFill>
                  <a:srgbClr val="E9C46A"/>
                </a:solidFill>
                <a:latin typeface="Calibri"/>
              </a:rPr>
              <a:t/>
            </a:r>
          </a:p>
          <a:p>
            <a:pPr algn="l"/>
            <a:r>
              <a:rPr sz="1200">
                <a:solidFill>
                  <a:srgbClr val="E9C46A"/>
                </a:solidFill>
                <a:latin typeface="Calibri"/>
              </a:rPr>
              <a:t>MLP: highest accuracy, SMALLEST margin.</a:t>
            </a:r>
          </a:p>
          <a:p>
            <a:pPr algn="l"/>
            <a:r>
              <a:rPr sz="1200">
                <a:solidFill>
                  <a:srgbClr val="E9C46A"/>
                </a:solidFill>
                <a:latin typeface="Calibri"/>
              </a:rPr>
              <a:t>LogReg: lowest accuracy, LARGEST margin.</a:t>
            </a:r>
          </a:p>
          <a:p>
            <a:pPr algn="l"/>
            <a:r>
              <a:rPr sz="1200">
                <a:solidFill>
                  <a:srgbClr val="E9C46A"/>
                </a:solidFill>
                <a:latin typeface="Calibri"/>
              </a:rPr>
              <a:t>'More accurate' != 'more deployable'.</a:t>
            </a:r>
          </a:p>
        </p:txBody>
      </p:sp>
      <p:pic>
        <p:nvPicPr>
          <p:cNvPr id="7" name="Picture 6" descr="02_margin_p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760720" cy="2880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UCI + robustness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264653"/>
                </a:solidFill>
                <a:latin typeface="Calibri"/>
              </a:rPr>
              <a:t>Synthetic dataset  +  compliance  +  forecasting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51560"/>
            <a:ext cx="1088136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18872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Calibri"/>
              </a:rPr>
              <a:t>IEEE 519 compliance classifier (PASS/MARGINAL/FAIL)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554480"/>
          <a:ext cx="530352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931920"/>
            <a:ext cx="53035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  <a:latin typeface="Calibri"/>
              </a:rPr>
              <a:t>50,000 rows x 50 cols, physics-informed, watermarked SYNTHETIC_GENERATOR_v1 — not used as publication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572000"/>
            <a:ext cx="5303520" cy="1554480"/>
          </a:xfrm>
          <a:prstGeom prst="roundRect">
            <a:avLst/>
          </a:prstGeom>
          <a:solidFill>
            <a:srgbClr val="E76F51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/>
            <a:r>
              <a:rPr b="1" sz="1300">
                <a:solidFill>
                  <a:srgbClr val="FFFFFF"/>
                </a:solidFill>
                <a:latin typeface="Calibri"/>
              </a:rPr>
              <a:t>THD forecasting (LSTM/GRU/MLP, 5/15/30 min ahead)</a:t>
            </a:r>
          </a:p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LSTM beats persistence baseline by ~30% RMSE.</a:t>
            </a:r>
          </a:p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Honest gap: early-warning F1 = 0 (breaches are 2% of rows) — next step is class-weighted loss.</a:t>
            </a:r>
          </a:p>
        </p:txBody>
      </p:sp>
      <p:pic>
        <p:nvPicPr>
          <p:cNvPr id="9" name="Picture 8" descr="04_correl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669280" cy="49606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Synthetic + downstream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Anomaly detection — comparing the two datasets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51560"/>
            <a:ext cx="10881360" cy="0"/>
          </a:xfrm>
          <a:prstGeom prst="line">
            <a:avLst/>
          </a:prstGeom>
          <a:ln w="31750">
            <a:solidFill>
              <a:srgbClr val="E9C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01_precision_recal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64008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0" y="123444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9C46A"/>
                </a:solidFill>
                <a:latin typeface="Calibri"/>
              </a:rPr>
              <a:t>Why compare instead of merge?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164592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F4F1DE"/>
                </a:solidFill>
                <a:latin typeface="Calibri"/>
              </a:rPr>
              <a:t>•  Incompatible schemas: single-phase 16-col vs. three-phase 50-col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F4F1DE"/>
                </a:solidFill>
                <a:latin typeface="Calibri"/>
              </a:rPr>
              <a:t>•  Ran the identical Isolation Forest recipe on both instead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9260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9C46A"/>
                </a:solidFill>
                <a:latin typeface="Calibri"/>
              </a:rPr>
              <a:t>What it proved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333756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F4F1DE"/>
                </a:solidFill>
                <a:latin typeface="Calibri"/>
              </a:rPr>
              <a:t>•  Disturbance dataset: 0.70 ROC-AUC — real, learnable fault signal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F4F1DE"/>
                </a:solidFill>
                <a:latin typeface="Calibri"/>
              </a:rPr>
              <a:t>•  Synthetic dataset: 0.50 (chance) — CORRECT, its fault_flag is designed as pure random noise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F4F1DE"/>
                </a:solidFill>
                <a:latin typeface="Calibri"/>
              </a:rPr>
              <a:t>•  The null result on one confirms the real result on the other isn't a fluke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Anomaly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264653"/>
                </a:solidFill>
                <a:latin typeface="Calibri"/>
              </a:rPr>
              <a:t>Disturbance prediction  +  explainability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51560"/>
            <a:ext cx="1088136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1887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Calibri"/>
              </a:rPr>
              <a:t>4-class model: 99.70% test accuracy</a:t>
            </a:r>
          </a:p>
        </p:txBody>
      </p:sp>
      <p:pic>
        <p:nvPicPr>
          <p:cNvPr id="6" name="Picture 5" descr="01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3541222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1887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Calibri"/>
              </a:rPr>
              <a:t>SHAP — why the model predicts what it predicts</a:t>
            </a:r>
          </a:p>
        </p:txBody>
      </p:sp>
      <p:pic>
        <p:nvPicPr>
          <p:cNvPr id="8" name="Picture 7" descr="01_shap_summary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4256116" cy="2926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5120640"/>
            <a:ext cx="11064240" cy="1051560"/>
          </a:xfrm>
          <a:prstGeom prst="roundRect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/>
            <a:r>
              <a:rPr sz="1300">
                <a:solidFill>
                  <a:srgbClr val="E9C46A"/>
                </a:solidFill>
                <a:latin typeface="Calibri"/>
              </a:rPr>
              <a:t>voltage_rms_V dominates Voltage_Sag, THD/harmonics dominate Harmonic_Distortion — physically sensible, not a black box.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Prediction + XAI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264653"/>
                </a:solidFill>
                <a:latin typeface="Calibri"/>
              </a:rPr>
              <a:t>Dashboard  +  data provenance — resolved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51560"/>
            <a:ext cx="10881360" cy="0"/>
          </a:xfrm>
          <a:prstGeom prst="line">
            <a:avLst/>
          </a:prstGeom>
          <a:ln w="317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170432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  <a:latin typeface="Calibri"/>
              </a:rPr>
              <a:t>Live at streamlit.app  —  streamlit run src/dashboard.py</a:t>
            </a:r>
          </a:p>
        </p:txBody>
      </p:sp>
      <p:pic>
        <p:nvPicPr>
          <p:cNvPr id="6" name="Picture 5" descr="01_live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5913120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92240" y="123444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264653"/>
                </a:solidFill>
                <a:latin typeface="Calibri"/>
              </a:rPr>
              <a:t>•  Pick a row -&gt; live reading + alert banners (disturbance classifier + anomaly detector)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264653"/>
                </a:solidFill>
                <a:latin typeface="Calibri"/>
              </a:rPr>
              <a:t>•  Live SHAP explanation for that specific row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264653"/>
                </a:solidFill>
                <a:latin typeface="Calibri"/>
              </a:rPr>
              <a:t>•  Cost panel labelled team-calculated, not measured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264653"/>
                </a:solidFill>
                <a:latin typeface="Calibri"/>
              </a:rPr>
              <a:t>•  Historical trend, disturbance rows colour-coded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246120"/>
            <a:ext cx="5212080" cy="274320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/>
            <a:r>
              <a:rPr b="1" sz="1400">
                <a:solidFill>
                  <a:srgbClr val="FFFFFF"/>
                </a:solidFill>
                <a:latin typeface="Calibri"/>
              </a:rPr>
              <a:t>Data provenance — resolved</a:t>
            </a:r>
          </a:p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Team confirmed: electrical readings are</a:t>
            </a:r>
          </a:p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field-measured at the Jamalpur site.</a:t>
            </a:r>
          </a:p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Still true regardless: economic_cost_BDT</a:t>
            </a:r>
          </a:p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and battery_capacity_loss_pct are team-</a:t>
            </a:r>
          </a:p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calculated, not independent measurements —</a:t>
            </a:r>
          </a:p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documented column-by-column.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Dashboard + provenance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Status  +  thanks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051560"/>
            <a:ext cx="10881360" cy="0"/>
          </a:xfrm>
          <a:prstGeom prst="line">
            <a:avLst/>
          </a:prstGeom>
          <a:ln w="31750">
            <a:solidFill>
              <a:srgbClr val="E9C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18872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2A9D8F"/>
                </a:solidFill>
                <a:latin typeface="Calibri"/>
              </a:rPr>
              <a:t>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F4F1DE"/>
                </a:solidFill>
                <a:latin typeface="Calibri"/>
              </a:rPr>
              <a:t>•  UCI Grid Stability + tau-robustness margin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F1DE"/>
                </a:solidFill>
                <a:latin typeface="Calibri"/>
              </a:rPr>
              <a:t>•  Synthetic dataset + IEEE 519 compliance classifier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F1DE"/>
                </a:solidFill>
                <a:latin typeface="Calibri"/>
              </a:rPr>
              <a:t>•  Multi-horizon THD forecasting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F1DE"/>
                </a:solidFill>
                <a:latin typeface="Calibri"/>
              </a:rPr>
              <a:t>•  Anomaly / cyber-resilience detection (both datasets, compared)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F1DE"/>
                </a:solidFill>
                <a:latin typeface="Calibri"/>
              </a:rPr>
              <a:t>•  4-class disturbance prediction (99.70% accuracy)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F1DE"/>
                </a:solidFill>
                <a:latin typeface="Calibri"/>
              </a:rPr>
              <a:t>•  SHAP explainability layer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F1DE"/>
                </a:solidFill>
                <a:latin typeface="Calibri"/>
              </a:rPr>
              <a:t>•  Interactive dashboard (Module 7)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F1DE"/>
                </a:solidFill>
                <a:latin typeface="Calibri"/>
              </a:rPr>
              <a:t>•  Dataset provenance confirmed with the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E76F51"/>
                </a:solidFill>
                <a:latin typeface="Calibri"/>
              </a:rPr>
              <a:t>Still 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F4F1DE"/>
                </a:solidFill>
                <a:latin typeface="Calibri"/>
              </a:rPr>
              <a:t>•  Re-derive economic_cost_BDT from an explicit tariff + replacement-cost formula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F1DE"/>
                </a:solidFill>
                <a:latin typeface="Calibri"/>
              </a:rPr>
              <a:t>•  Binary breach classifier for forecasting's early-warning F1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F1DE"/>
                </a:solidFill>
                <a:latin typeface="Calibri"/>
              </a:rPr>
              <a:t>•  Multi-seed + bootstrap CI on forecasting numbers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4F1DE"/>
                </a:solidFill>
                <a:latin typeface="Calibri"/>
              </a:rPr>
              <a:t>•  LaTeX manuscript draft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394960"/>
            <a:ext cx="11064240" cy="914400"/>
          </a:xfrm>
          <a:prstGeom prst="roundRect">
            <a:avLst/>
          </a:prstGeom>
          <a:solidFill>
            <a:srgbClr val="E76F51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/>
            <a:r>
              <a:rPr sz="1900" b="1">
                <a:solidFill>
                  <a:srgbClr val="FFFFFF"/>
                </a:solidFill>
              </a:rPr>
              <a:t>Thanks — questions welcome</a:t>
            </a:r>
          </a:p>
          <a:p>
            <a:pPr algn="ctr"/>
            <a:r>
              <a:rPr sz="1300">
                <a:solidFill>
                  <a:srgbClr val="E9C46A"/>
                </a:solidFill>
                <a:latin typeface="Consolas"/>
              </a:rPr>
              <a:t>github.com/Fahmidaca/microgrid-dt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Status + thanks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