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37160" cy="2377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Microgrid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A9D8F"/>
                </a:solidFill>
                <a:latin typeface="Calibri"/>
              </a:rPr>
              <a:t>Stability, Power Quality, 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  <a:latin typeface="Calibri"/>
              </a:rPr>
              <a:t>Progress report - CSE side ML pipelines + EEE side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4F1DE"/>
                </a:solidFill>
                <a:latin typeface="Calibri"/>
              </a:rPr>
              <a:t>Target venues: IEEE Trans. Smart Grid (Q1, IF~10)  |  Applied Energy (Q1, IF~11)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Consolas"/>
              </a:rPr>
              <a:t>github.com/Fahmidaca/microgrid-dt-1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264653"/>
                </a:solidFill>
                <a:latin typeface="Calibri"/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The problem: renewable microgrid stability and IEEE 519 compliance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Project layout: two halves (CSE + EEE) that meet in the middle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Part 1  -  UCI Grid Stability pipeline (public benchmark)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Part 2  -  Synthetic dataset + compliance classifier + forecasting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Part 3  -  EEE side physics simulation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How the two halves meet: the AI-Optimized Control link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264653"/>
                </a:solidFill>
                <a:latin typeface="Calibri"/>
              </a:rPr>
              <a:t>•  Honesty notes, gaps,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264653"/>
                </a:solidFill>
                <a:latin typeface="Calibri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64653"/>
                </a:solidFill>
                <a:latin typeface="Calibri"/>
              </a:rPr>
              <a:t>Renewable microgrids are hard to keep stable and IEEE 519 compliant as PV / wind penetration grows.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The five questions this project answers: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64653"/>
                </a:solidFill>
                <a:latin typeface="Calibri"/>
              </a:rPr>
              <a:t>•  How stable is the grid at any moment?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64653"/>
                </a:solidFill>
                <a:latin typeface="Calibri"/>
              </a:rPr>
              <a:t>•  How much can we trust the ML model's stability call?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64653"/>
                </a:solidFill>
                <a:latin typeface="Calibri"/>
              </a:rPr>
              <a:t>•  Will voltage-THD breach the IEEE 519 5 % limit in the next 5-30 minutes?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64653"/>
                </a:solidFill>
                <a:latin typeface="Calibri"/>
              </a:rPr>
              <a:t>•  Do renewable-heavy operating scenarios pass IEEE 519 without help?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64653"/>
                </a:solidFill>
                <a:latin typeface="Calibri"/>
              </a:rPr>
              <a:t>•  Can an AI controller do better than fixed control laws?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264653"/>
                </a:solidFill>
                <a:latin typeface="Calibri"/>
              </a:rPr>
              <a:t>Two halves that meet in the middle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54480"/>
            <a:ext cx="5212080" cy="40233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CSE  /  ML SIDE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UCI Grid Stability benchmark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5 classifiers x 5 seeds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Best: MLP  96.05 % accuracy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NEW METRIC: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tau-robustness margin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(no prior paper reports it)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Synthetic 50k-row dataset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3-class IEEE 519 compliance classifier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Multi-horizon THD forecasting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212080" cy="40233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EEE  /  PHYSICS SIDE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Bangladesh PV microgrid (50 Hz, 230 V)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6-pulse rectifier + nonlinear loads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Simulink builder + Python port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SRF Active Power Filter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FFT-based THD analyzer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Battery ageing + BDT cost model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IEEE 14-bus parametric study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10 scenarios, IEEE 519 verdict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(EEE side is currently completing this)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5669280"/>
            <a:ext cx="6126480" cy="64008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They meet at the AI-Optimized Control scenario  (the CSE ML model becomes the controller)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264653"/>
                </a:solidFill>
                <a:latin typeface="Calibri"/>
              </a:rPr>
              <a:t>Part 1  -  UCI Grid Stability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A9D8F"/>
                </a:solidFill>
                <a:latin typeface="Calibri"/>
              </a:rPr>
              <a:t>Schafer et al. 2016, Eur. Phys. J. Special Topics 225, 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264653"/>
                </a:solidFill>
                <a:latin typeface="Calibri"/>
              </a:rPr>
              <a:t>•  10,000 simulated 4-bus decentralised smart grid snapshots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64653"/>
                </a:solidFill>
                <a:latin typeface="Calibri"/>
              </a:rPr>
              <a:t>•  12 features:  tau1..4 (reaction times), p1..4 (powers), g1..4 (elasticities)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64653"/>
                </a:solidFill>
                <a:latin typeface="Calibri"/>
              </a:rPr>
              <a:t>•  Binary label:  stable / unstable  (64 % unstable, 36 % stable)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64653"/>
                </a:solidFill>
                <a:latin typeface="Calibri"/>
              </a:rPr>
              <a:t>•  Peer-reviewed, still cited in 2024-25 papers - benchmarks don't expire, methods do</a:t>
            </a:r>
          </a:p>
        </p:txBody>
      </p:sp>
      <p:pic>
        <p:nvPicPr>
          <p:cNvPr id="7" name="Picture 6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4114800" cy="2880360"/>
          </a:xfrm>
          <a:prstGeom prst="rect">
            <a:avLst/>
          </a:prstGeom>
        </p:spPr>
      </p:pic>
      <p:pic>
        <p:nvPicPr>
          <p:cNvPr id="8" name="Picture 7" descr="04_tau_stability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6583680" cy="2693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UCI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264653"/>
                </a:solidFill>
                <a:latin typeface="Calibri"/>
              </a:rPr>
              <a:t>Part 1  -  Methodology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A9D8F"/>
                </a:solidFill>
                <a:latin typeface="Calibri"/>
              </a:rPr>
              <a:t>5 classifiers  x  5 seeds  =  25 independent training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Logistic Regression, Random Forest, HistGB, XGBoost, MLP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80 / 20 stratified train-test split, deterministic seeding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Multi-seed setup = we report mean +/- std, not a single lucky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A9D8F"/>
                </a:solidFill>
                <a:latin typeface="Calibri"/>
              </a:rPr>
              <a:t>Statistical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Paired McNemar test for every pair of models  (10 pairs)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Holm-Bonferroni correction for multiple comparisons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Bootstrap 95 % confidence intervals (2000 iterations)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  <a:latin typeface="Calibri"/>
              </a:rPr>
              <a:t>•  Result: all 10 pairwise differences significant at p &lt;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UCI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Part 1  -  Results (test accuracy, mean +/- std over 5 seeds)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MLP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96.05 % +/- 0.62 %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[95.65, 96.43]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95.72 %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HistGB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94.72 %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[94.28, 95.13]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94.24 %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94.39 %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[93.92, 94.83]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93.87 %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92.16 %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[91.64, 92.70]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91.38 %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81.50 %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[80.72, 82.29]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4653"/>
                          </a:solidFill>
                          <a:latin typeface="Calibri"/>
                        </a:rPr>
                        <a:t>79.58 %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  <a:latin typeface="Calibri"/>
              </a:rPr>
              <a:t>All 10 pairwise differences statistically significant (McNemar + Holm-Bonferroni, p &lt; 0.05)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E76F51"/>
                </a:solidFill>
                <a:latin typeface="Calibri"/>
              </a:rPr>
              <a:t>The MLP wins on accuracy - but that is only half the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Calibri"/>
              </a:rPr>
              <a:t>-&gt; the other half is on the next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UCI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Novel contribution:  tau-robustness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9C46A"/>
                </a:solidFill>
                <a:latin typeface="Calibri"/>
              </a:rPr>
              <a:t>The gap in prior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4F1DE"/>
                </a:solidFill>
                <a:latin typeface="Calibri"/>
              </a:rPr>
              <a:t>Every existing paper on this benchmark reports only classification accuracy.  But a grid operator needs to know how much they can trust the model's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9C46A"/>
                </a:solidFill>
                <a:latin typeface="Calibri"/>
              </a:rPr>
              <a:t>What we 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For each correctly-classified test point, find the smallest tau-perturbation that flips the model's prediction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Binary search over 16 sign patterns on tau1..tau4  (L_inf norm)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Clipped to the simulation range [0.5, 10] seconds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Result: a per-sample safety buffer in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E9C46A"/>
                </a:solidFill>
                <a:latin typeface="Calibri"/>
              </a:rPr>
              <a:t>Larger margin  =  the classifier's decision survives more consumer reaction-time degradation before it flips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Novelty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Key insight:  accuracy  !=  robustness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2_margi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76F51"/>
                </a:solidFill>
                <a:latin typeface="Calibri"/>
              </a:rPr>
              <a:t>What the numbers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MLP  =  best accuracy  (96.05 %)  but tightest tau-margin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LogReg  =  lowest accuracy  (81.5 %)  but LARGEST margin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So 'more accurate' does not mean 'more deployable'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Prior accuracy-only reports hide this trade-off completely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E76F51"/>
                </a:solidFill>
                <a:latin typeface="Calibri"/>
              </a:rPr>
              <a:t>This is the publishable insight of the CSE-side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Novelty -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Part 2  -  Synthetic Bangladesh microgrid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Why synthetic?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64653"/>
                </a:solidFill>
                <a:latin typeface="Calibri"/>
              </a:rPr>
              <a:t>•  The CSE side needed a dataset with a time axis and richer features (THD, frequency, storage state, weather, load)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64653"/>
                </a:solidFill>
                <a:latin typeface="Calibri"/>
              </a:rPr>
              <a:t>•  Real datasets with all that in one place are hard to get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64653"/>
                </a:solidFill>
                <a:latin typeface="Calibri"/>
              </a:rPr>
              <a:t>•  So a physics-informed synthetic dataset was generated to test the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0881360" cy="12801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l"/>
            <a:r>
              <a:rPr sz="1500" b="1">
                <a:solidFill>
                  <a:srgbClr val="FFFFFF"/>
                </a:solidFill>
              </a:rPr>
              <a:t>IMPORTANT  -  synthetic data is for pipeline testing only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 Every row has  source = SYNTHETIC_GENERATOR_v1  watermark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 Before publication, real Simulink output from the IEEE 14-bus model will replace this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A9D8F"/>
                </a:solidFill>
                <a:latin typeface="Calibri"/>
              </a:rPr>
              <a:t>Dataset:  50,000 rows  x  50 columns  |  10 operating scenarios  |  34-day span at 1-sample-per-minute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Synthetic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Synthetic dataset  -  50 columns of physics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Time (3):    timestamp, hour_of_day, day_of_year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Environment (4):    irradiance, temp, humidity, wind_speed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Voltage (4):    V_rms_a/b/c, V_unbalance_pct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Current (4):    I_rms_a/b/c, I_neutral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Power (4):    P_active, Q_reactive, S_apparent, PF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Frequency (3):    freq_Hz, freq_dev, RoCoF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Harmonics (6):    V-THD, I-THD, 5th, 7th, 11th, 13th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Renewables (3):    PV_kW, wind_kW, RE_penetration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Storage (6):    SOC, SOH, V, I, T, P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Load (2):    load_kW, nonlinear_load_frac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Mode flags (5):    grid_connected, APF, ESS, AI, fault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Labels + economics + watermark (7)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Physical relationships built in (not independent noise):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Calibri"/>
              </a:rPr>
              <a:t>PV = f(irradiance, NOCT temp)  |  wind = f(speed^3)  |  V-THD grows with RE-penetration &amp; nonlinear-load  |  battery T rises with I-THD^2  |  IEEE 519 verdict from V-THD + I-THD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Synthetic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IEEE 519 compliance classifier  (3-class)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64653"/>
                </a:solidFill>
                <a:latin typeface="Calibri"/>
              </a:rPr>
              <a:t>Predict PASS / MARGINAL / FAIL from OPERATIONAL SIGNALS ALONE (V-THD and harmonics are dropped to avoid trivial prediction)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FAIL-F1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XGBoost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99.82 %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99.55 %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99.28 %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99.81 %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99.41 %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98.86 %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HistGB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99.79 %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99.36 %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98.79 %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99.67 %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98.90 %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97.81 %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99.18 %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97.20 %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94.41 %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50292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10881360" cy="12801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l"/>
            <a:r>
              <a:rPr sz="1400" b="1">
                <a:solidFill>
                  <a:srgbClr val="FFFFFF"/>
                </a:solidFill>
              </a:rPr>
              <a:t>Honest note  -  these numbers are too clean to be real</a:t>
            </a:r>
          </a:p>
          <a:p>
            <a:r>
              <a:rPr sz="1100">
                <a:solidFill>
                  <a:srgbClr val="FFFFFF"/>
                </a:solidFill>
              </a:rPr>
              <a:t>The synthetic physics is deterministic.  Once real Simulink data replaces the synthetic set, accuracies will drop into the 85-92 % range - a much more publishable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Compliance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Multi-horizon V-THD forecasting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64653"/>
                </a:solidFill>
                <a:latin typeface="Calibri"/>
              </a:rPr>
              <a:t>Predict V-THD at 5, 15, and 30 minutes ahead using a 30-minute lookback of 27 operational signals.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 (5 min)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Early-warn 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Persistence (naive)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-0.67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+0.15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LSTM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+0.16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+0.16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2_RMS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93776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Two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Good: LSTM / GRU / MLP all beat persistence by ~30 % on RMSE  -  the pipeline extracts real signal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64653"/>
                </a:solidFill>
                <a:latin typeface="Calibri"/>
              </a:rPr>
              <a:t>•  Honest: early-warning F1 = 0 because breaches are only 2 %; MSE loss pushes predictions toward the mean.  Next: reframe as binary breach classification with class-weighted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EEE-side physics simulation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Bangladesh microgrid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3-phase 50 Hz / 230 V source  +  6-pulse rectifier nonlinear load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SRF (synchronous reference frame) Active Power Filter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FFT-based THD analyzer over a 5-cycle window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Battery-degradation twin  -&gt;  Bangladesh Taka annualised cost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Runs in both MATLAB Simulink AND Python (identical math)</a:t>
            </a:r>
          </a:p>
        </p:txBody>
      </p:sp>
      <p:pic>
        <p:nvPicPr>
          <p:cNvPr id="7" name="Picture 6" descr="02_thd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5852160" cy="2340864"/>
          </a:xfrm>
          <a:prstGeom prst="rect">
            <a:avLst/>
          </a:prstGeom>
        </p:spPr>
      </p:pic>
      <p:pic>
        <p:nvPicPr>
          <p:cNvPr id="8" name="Picture 7" descr="04_spectrum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114800"/>
            <a:ext cx="5212080" cy="2084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76F51"/>
                </a:solidFill>
                <a:latin typeface="Calibri"/>
              </a:rPr>
              <a:t>Headline result:  THD_i  27.13 %  -&gt;  2.07 %  when the APF turns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EEE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the two halves meet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4F1DE"/>
                </a:solidFill>
                <a:latin typeface="Calibri"/>
              </a:rPr>
              <a:t>The EEE compliance table has a scenario called "AI-Optimized Control" that achieves the lowest THD at the highest renewable penetration.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E9C46A"/>
                </a:solidFill>
                <a:latin typeface="Calibri"/>
              </a:rPr>
              <a:t>That AI is the CSE side's trained ML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Without the bridge  =  two separate boring papers (ML paper + power-systems paper)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With the bridge  =  one interdisciplinary paper where the ML controls the physical microgrid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F4F1DE"/>
                </a:solidFill>
                <a:latin typeface="Calibri"/>
              </a:rPr>
              <a:t>•  This is what makes the work suitable for a Q1 venue rather than two lower-tier 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Interdisciplinary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Honesty notes  -  what we do NOT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Every claim is bounded up-front so no reviewer can accuse the paper of overreach.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UCI Grid is static configurations, not time series - we do NOT claim 'early warning' prediction on it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Results are not claimed to transfer directly to real PMU / SCADA data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tau-robustness margin is a property of the classifier's decision, not a guarantee about the physical grid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Synthetic dataset carries a source watermark and cannot be used as evidence in publication tables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264653"/>
                </a:solidFill>
                <a:latin typeface="Calibri"/>
              </a:rPr>
              <a:t>•  Point-forecast MSE + 2 % breach rate has known early-warning limitations - documented,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76F51"/>
                </a:solidFill>
                <a:latin typeface="Calibri"/>
              </a:rPr>
              <a:t>Faisal Sir's Bangla research-integrity announcement explicitly listed Fabricated Data - so we watermark, disclose, and plan to replace synthetic with real Simulink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Honesty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What still needs to happen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CSE-side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Class-weighted or binary reformulation of the forecaster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Multi-seed + bootstrap CI on all forecasting numbers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Reproducibility audit for the synthetic-data side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Draft the LaTeX manuscript from PAPER_OUTLINE.md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76F51"/>
                </a:solidFill>
                <a:latin typeface="Calibri"/>
              </a:rPr>
              <a:t>EEE-side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Finish the IEEE 14-bus parametric-study Simulink runs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Formal Schafer 2016 reproduction on the 4-bus model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Complete the AI Forecasting Performance and EMS Optimisation sheets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64653"/>
                </a:solidFill>
                <a:latin typeface="Calibri"/>
              </a:rPr>
              <a:t>•  Send real .slx output files to the CSE side to replace 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Gaps and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137160" cy="2011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Thanks  - 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2A9D8F"/>
                </a:solidFill>
                <a:latin typeface="Consolas"/>
              </a:rPr>
              <a:t>Repo:  github.com/Fahmidaca/microgrid-dt-1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9C46A"/>
                </a:solidFill>
                <a:latin typeface="Calibri"/>
              </a:rPr>
              <a:t>Target venues:  IEEE Trans. Smart Grid (Q1, IF~10)  |  Applied Energy (Q1, IF~11)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4F1DE"/>
                </a:solidFill>
                <a:latin typeface="Calibri"/>
              </a:rPr>
              <a:t>Every folder in the repo has a README explaining what it contains and how to reproduce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