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64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554480"/>
            <a:ext cx="137160" cy="356616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51560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Microgrid 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97480"/>
            <a:ext cx="105156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400" b="0">
                <a:solidFill>
                  <a:srgbClr val="2A9D8F"/>
                </a:solidFill>
                <a:latin typeface="Calibri"/>
              </a:rPr>
              <a:t>Stability, Power Quality, and Forecasting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11880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E9C46A"/>
                </a:solidFill>
                <a:latin typeface="Calibri"/>
              </a:rPr>
              <a:t>Progress report  -  CSE side ML pipelines  +  EEE side simulation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48056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900" b="0">
                <a:solidFill>
                  <a:srgbClr val="F4F1DE"/>
                </a:solidFill>
                <a:latin typeface="Calibri"/>
              </a:rPr>
              <a:t>Target venues:  IEEE Trans. Smart Grid (Q1, IF~10)  |  Applied Energy (Q1, IF~11)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943600"/>
            <a:ext cx="10515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700" b="0">
                <a:solidFill>
                  <a:srgbClr val="E9C46A"/>
                </a:solidFill>
                <a:latin typeface="Consolas"/>
              </a:rPr>
              <a:t>github.com/Fahmidaca/microgrid-dt-1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264653"/>
                </a:solidFill>
                <a:latin typeface="Calibri"/>
              </a:rPr>
              <a:t>Agenda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188720"/>
            <a:ext cx="10881360" cy="0"/>
          </a:xfrm>
          <a:prstGeom prst="line">
            <a:avLst/>
          </a:prstGeom>
          <a:ln w="3175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14400" y="155448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>
                <a:solidFill>
                  <a:srgbClr val="264653"/>
                </a:solidFill>
                <a:latin typeface="Calibri"/>
              </a:rPr>
              <a:t>•  The problem: renewable microgrid stability and IEEE 519 compliance</a:t>
            </a:r>
          </a:p>
          <a:p>
            <a:pPr algn="l">
              <a:spcAft>
                <a:spcPts val="1400"/>
              </a:spcAft>
            </a:pPr>
            <a:r>
              <a:rPr sz="2000">
                <a:solidFill>
                  <a:srgbClr val="264653"/>
                </a:solidFill>
                <a:latin typeface="Calibri"/>
              </a:rPr>
              <a:t>•  Project layout: two halves (CSE + EEE) that meet in the middle</a:t>
            </a:r>
          </a:p>
          <a:p>
            <a:pPr algn="l">
              <a:spcAft>
                <a:spcPts val="1400"/>
              </a:spcAft>
            </a:pPr>
            <a:r>
              <a:rPr sz="2000">
                <a:solidFill>
                  <a:srgbClr val="264653"/>
                </a:solidFill>
                <a:latin typeface="Calibri"/>
              </a:rPr>
              <a:t>•  Part 1  -  UCI Grid Stability pipeline (public benchmark)</a:t>
            </a:r>
          </a:p>
          <a:p>
            <a:pPr algn="l">
              <a:spcAft>
                <a:spcPts val="1400"/>
              </a:spcAft>
            </a:pPr>
            <a:r>
              <a:rPr sz="2000">
                <a:solidFill>
                  <a:srgbClr val="264653"/>
                </a:solidFill>
                <a:latin typeface="Calibri"/>
              </a:rPr>
              <a:t>•  Part 2  -  Synthetic dataset + compliance classifier + forecasting</a:t>
            </a:r>
          </a:p>
          <a:p>
            <a:pPr algn="l">
              <a:spcAft>
                <a:spcPts val="1400"/>
              </a:spcAft>
            </a:pPr>
            <a:r>
              <a:rPr sz="2000">
                <a:solidFill>
                  <a:srgbClr val="264653"/>
                </a:solidFill>
                <a:latin typeface="Calibri"/>
              </a:rPr>
              <a:t>•  Part 3  -  EEE side physics simulation</a:t>
            </a:r>
          </a:p>
          <a:p>
            <a:pPr algn="l">
              <a:spcAft>
                <a:spcPts val="1400"/>
              </a:spcAft>
            </a:pPr>
            <a:r>
              <a:rPr sz="2000">
                <a:solidFill>
                  <a:srgbClr val="264653"/>
                </a:solidFill>
                <a:latin typeface="Calibri"/>
              </a:rPr>
              <a:t>•  How the two halves meet: the AI-Optimized Control link</a:t>
            </a:r>
          </a:p>
          <a:p>
            <a:pPr algn="l">
              <a:spcAft>
                <a:spcPts val="1400"/>
              </a:spcAft>
            </a:pPr>
            <a:r>
              <a:rPr sz="2000">
                <a:solidFill>
                  <a:srgbClr val="264653"/>
                </a:solidFill>
                <a:latin typeface="Calibri"/>
              </a:rPr>
              <a:t>•  Honesty notes, gaps, and 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06060"/>
                </a:solidFill>
                <a:latin typeface="Calibri"/>
              </a:rPr>
              <a:t>Agenda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457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264653"/>
                </a:solidFill>
                <a:latin typeface="Calibri"/>
              </a:rPr>
              <a:t>The problem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188720"/>
            <a:ext cx="10881360" cy="0"/>
          </a:xfrm>
          <a:prstGeom prst="line">
            <a:avLst/>
          </a:prstGeom>
          <a:ln w="3175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146304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0">
                <a:solidFill>
                  <a:srgbClr val="264653"/>
                </a:solidFill>
                <a:latin typeface="Calibri"/>
              </a:rPr>
              <a:t>Renewable microgrids are hard to keep stable and IEEE 519 compliant as PV / wind penetration grows.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2A9D8F"/>
                </a:solidFill>
                <a:latin typeface="Calibri"/>
              </a:rPr>
              <a:t>The five questions this project answers: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>
                <a:solidFill>
                  <a:srgbClr val="264653"/>
                </a:solidFill>
                <a:latin typeface="Calibri"/>
              </a:rPr>
              <a:t>•  How stable is the grid at any moment?</a:t>
            </a:r>
          </a:p>
          <a:p>
            <a:pPr algn="l">
              <a:spcAft>
                <a:spcPts val="1000"/>
              </a:spcAft>
            </a:pPr>
            <a:r>
              <a:rPr sz="1800">
                <a:solidFill>
                  <a:srgbClr val="264653"/>
                </a:solidFill>
                <a:latin typeface="Calibri"/>
              </a:rPr>
              <a:t>•  How much can we trust the ML model's stability call?</a:t>
            </a:r>
          </a:p>
          <a:p>
            <a:pPr algn="l">
              <a:spcAft>
                <a:spcPts val="1000"/>
              </a:spcAft>
            </a:pPr>
            <a:r>
              <a:rPr sz="1800">
                <a:solidFill>
                  <a:srgbClr val="264653"/>
                </a:solidFill>
                <a:latin typeface="Calibri"/>
              </a:rPr>
              <a:t>•  Will voltage-THD breach the IEEE 519 5 % limit in the next 5-30 minutes?</a:t>
            </a:r>
          </a:p>
          <a:p>
            <a:pPr algn="l">
              <a:spcAft>
                <a:spcPts val="1000"/>
              </a:spcAft>
            </a:pPr>
            <a:r>
              <a:rPr sz="1800">
                <a:solidFill>
                  <a:srgbClr val="264653"/>
                </a:solidFill>
                <a:latin typeface="Calibri"/>
              </a:rPr>
              <a:t>•  Do renewable-heavy operating scenarios pass IEEE 519 without help?</a:t>
            </a:r>
          </a:p>
          <a:p>
            <a:pPr algn="l">
              <a:spcAft>
                <a:spcPts val="1000"/>
              </a:spcAft>
            </a:pPr>
            <a:r>
              <a:rPr sz="1800">
                <a:solidFill>
                  <a:srgbClr val="264653"/>
                </a:solidFill>
                <a:latin typeface="Calibri"/>
              </a:rPr>
              <a:t>•  Can an AI controller do better than fixed control laws?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06060"/>
                </a:solidFill>
                <a:latin typeface="Calibri"/>
              </a:rPr>
              <a:t>Motivation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457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264653"/>
                </a:solidFill>
                <a:latin typeface="Calibri"/>
              </a:rPr>
              <a:t>Two halves that meet in the middle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188720"/>
            <a:ext cx="10881360" cy="0"/>
          </a:xfrm>
          <a:prstGeom prst="line">
            <a:avLst/>
          </a:prstGeom>
          <a:ln w="3175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731520" y="1554480"/>
            <a:ext cx="5212080" cy="4023360"/>
          </a:xfrm>
          <a:prstGeom prst="roundRect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CSE  /  ML SIDE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/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UCI Grid Stability benchmark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5 classifiers x 5 seeds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Best: MLP  96.05 % accuracy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/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NEW METRIC: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tau-robustness margin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(no prior paper reports it)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/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Synthetic 50k-row dataset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3-class IEEE 519 compliance classifier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Multi-horizon THD forecasting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554480"/>
            <a:ext cx="5212080" cy="4023360"/>
          </a:xfrm>
          <a:prstGeom prst="roundRect">
            <a:avLst/>
          </a:prstGeom>
          <a:solidFill>
            <a:srgbClr val="E76F51"/>
          </a:solidFill>
          <a:ln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EEE  /  PHYSICS SIDE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/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Bangladesh PV microgrid (50 Hz, 230 V)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6-pulse rectifier + nonlinear loads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/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Simulink builder + Python port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SRF Active Power Filter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FFT-based THD analyzer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Battery ageing + BDT cost model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/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IEEE 14-bus parametric study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10 scenarios, IEEE 519 verdict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(EEE side is currently completing this)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17520" y="5669280"/>
            <a:ext cx="6126480" cy="640080"/>
          </a:xfrm>
          <a:prstGeom prst="roundRect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They meet at the AI-Optimized Control scenario  (the CSE ML model becomes the controller)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06060"/>
                </a:solidFill>
                <a:latin typeface="Calibri"/>
              </a:rPr>
              <a:t>Project layout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457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264653"/>
                </a:solidFill>
                <a:latin typeface="Calibri"/>
              </a:rPr>
              <a:t>Part 1  -  UCI Grid Stability dataset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188720"/>
            <a:ext cx="10881360" cy="0"/>
          </a:xfrm>
          <a:prstGeom prst="line">
            <a:avLst/>
          </a:prstGeom>
          <a:ln w="3175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2A9D8F"/>
                </a:solidFill>
                <a:latin typeface="Calibri"/>
              </a:rPr>
              <a:t>Schafer et al. 2016, Eur. Phys. J. Special Topics 225, 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>
                <a:solidFill>
                  <a:srgbClr val="264653"/>
                </a:solidFill>
                <a:latin typeface="Calibri"/>
              </a:rPr>
              <a:t>•  10,000 simulated 4-bus decentralised smart grid snapshots</a:t>
            </a:r>
          </a:p>
          <a:p>
            <a:pPr algn="l">
              <a:spcAft>
                <a:spcPts val="1000"/>
              </a:spcAft>
            </a:pPr>
            <a:r>
              <a:rPr sz="1700">
                <a:solidFill>
                  <a:srgbClr val="264653"/>
                </a:solidFill>
                <a:latin typeface="Calibri"/>
              </a:rPr>
              <a:t>•  12 features:  tau1..4 (reaction times), p1..4 (powers), g1..4 (elasticities)</a:t>
            </a:r>
          </a:p>
          <a:p>
            <a:pPr algn="l">
              <a:spcAft>
                <a:spcPts val="1000"/>
              </a:spcAft>
            </a:pPr>
            <a:r>
              <a:rPr sz="1700">
                <a:solidFill>
                  <a:srgbClr val="264653"/>
                </a:solidFill>
                <a:latin typeface="Calibri"/>
              </a:rPr>
              <a:t>•  Binary label:  stable / unstable  (64 % unstable, 36 % stable)</a:t>
            </a:r>
          </a:p>
          <a:p>
            <a:pPr algn="l">
              <a:spcAft>
                <a:spcPts val="1000"/>
              </a:spcAft>
            </a:pPr>
            <a:r>
              <a:rPr sz="1700">
                <a:solidFill>
                  <a:srgbClr val="264653"/>
                </a:solidFill>
                <a:latin typeface="Calibri"/>
              </a:rPr>
              <a:t>•  Peer-reviewed, still cited in 2024-25 papers - benchmarks don't expire, methods do</a:t>
            </a:r>
          </a:p>
        </p:txBody>
      </p:sp>
      <p:pic>
        <p:nvPicPr>
          <p:cNvPr id="7" name="Picture 6" descr="01_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023360"/>
            <a:ext cx="4114800" cy="2880360"/>
          </a:xfrm>
          <a:prstGeom prst="rect">
            <a:avLst/>
          </a:prstGeom>
        </p:spPr>
      </p:pic>
      <p:pic>
        <p:nvPicPr>
          <p:cNvPr id="8" name="Picture 7" descr="04_tau_stability_bound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4023360"/>
            <a:ext cx="6583680" cy="26933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06060"/>
                </a:solidFill>
                <a:latin typeface="Calibri"/>
              </a:rPr>
              <a:t>UCI dataset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457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264653"/>
                </a:solidFill>
                <a:latin typeface="Calibri"/>
              </a:rPr>
              <a:t>Part 1  -  Methodology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188720"/>
            <a:ext cx="10881360" cy="0"/>
          </a:xfrm>
          <a:prstGeom prst="line">
            <a:avLst/>
          </a:prstGeom>
          <a:ln w="3175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2A9D8F"/>
                </a:solidFill>
                <a:latin typeface="Calibri"/>
              </a:rPr>
              <a:t>5 classifiers  x  5 seeds  =  25 independent training runs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264653"/>
                </a:solidFill>
                <a:latin typeface="Calibri"/>
              </a:rPr>
              <a:t>•  Logistic Regression, Random Forest, HistGB, XGBoost, MLP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264653"/>
                </a:solidFill>
                <a:latin typeface="Calibri"/>
              </a:rPr>
              <a:t>•  80 / 20 stratified train-test split, deterministic seeding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264653"/>
                </a:solidFill>
                <a:latin typeface="Calibri"/>
              </a:rPr>
              <a:t>•  Multi-seed setup = we report mean +/- std, not a single lucky run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2A9D8F"/>
                </a:solidFill>
                <a:latin typeface="Calibri"/>
              </a:rPr>
              <a:t>Statistical rigor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0624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264653"/>
                </a:solidFill>
                <a:latin typeface="Calibri"/>
              </a:rPr>
              <a:t>•  Paired McNemar test for every pair of models  (10 pairs)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264653"/>
                </a:solidFill>
                <a:latin typeface="Calibri"/>
              </a:rPr>
              <a:t>•  Holm-Bonferroni correction for multiple comparisons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264653"/>
                </a:solidFill>
                <a:latin typeface="Calibri"/>
              </a:rPr>
              <a:t>•  Bootstrap 95 % confidence intervals (2000 iterations)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264653"/>
                </a:solidFill>
                <a:latin typeface="Calibri"/>
              </a:rPr>
              <a:t>•  Result: all 10 pairwise differences significant at p &lt; 0.05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06060"/>
                </a:solidFill>
                <a:latin typeface="Calibri"/>
              </a:rPr>
              <a:t>UCI methodology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457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264653"/>
                </a:solidFill>
                <a:latin typeface="Calibri"/>
              </a:rPr>
              <a:t>Part 1  -  Results (test accuracy, mean +/- std over 5 seeds)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188720"/>
            <a:ext cx="10881360" cy="0"/>
          </a:xfrm>
          <a:prstGeom prst="line">
            <a:avLst/>
          </a:prstGeom>
          <a:ln w="3175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54480"/>
          <a:ext cx="106984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  <a:gridCol w="2674620"/>
                <a:gridCol w="2674620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95 % CI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Macro-F1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64653"/>
                          </a:solidFill>
                          <a:latin typeface="Calibri"/>
                        </a:rPr>
                        <a:t>MLP (winner)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64653"/>
                          </a:solidFill>
                          <a:latin typeface="Calibri"/>
                        </a:rPr>
                        <a:t>96.05 % +/- 0.62 %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64653"/>
                          </a:solidFill>
                          <a:latin typeface="Calibri"/>
                        </a:rPr>
                        <a:t>[95.65, 96.43]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64653"/>
                          </a:solidFill>
                          <a:latin typeface="Calibri"/>
                        </a:rPr>
                        <a:t>95.72 %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64653"/>
                          </a:solidFill>
                          <a:latin typeface="Calibri"/>
                        </a:rPr>
                        <a:t>HistGB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64653"/>
                          </a:solidFill>
                          <a:latin typeface="Calibri"/>
                        </a:rPr>
                        <a:t>94.72 %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64653"/>
                          </a:solidFill>
                          <a:latin typeface="Calibri"/>
                        </a:rPr>
                        <a:t>[94.28, 95.13]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64653"/>
                          </a:solidFill>
                          <a:latin typeface="Calibri"/>
                        </a:rPr>
                        <a:t>94.24 %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64653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64653"/>
                          </a:solidFill>
                          <a:latin typeface="Calibri"/>
                        </a:rPr>
                        <a:t>94.39 %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64653"/>
                          </a:solidFill>
                          <a:latin typeface="Calibri"/>
                        </a:rPr>
                        <a:t>[93.92, 94.83]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64653"/>
                          </a:solidFill>
                          <a:latin typeface="Calibri"/>
                        </a:rPr>
                        <a:t>93.87 %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64653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64653"/>
                          </a:solidFill>
                          <a:latin typeface="Calibri"/>
                        </a:rPr>
                        <a:t>92.16 %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64653"/>
                          </a:solidFill>
                          <a:latin typeface="Calibri"/>
                        </a:rPr>
                        <a:t>[91.64, 92.70]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64653"/>
                          </a:solidFill>
                          <a:latin typeface="Calibri"/>
                        </a:rPr>
                        <a:t>91.38 %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64653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64653"/>
                          </a:solidFill>
                          <a:latin typeface="Calibri"/>
                        </a:rPr>
                        <a:t>81.50 %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64653"/>
                          </a:solidFill>
                          <a:latin typeface="Calibri"/>
                        </a:rPr>
                        <a:t>[80.72, 82.29]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64653"/>
                          </a:solidFill>
                          <a:latin typeface="Calibri"/>
                        </a:rPr>
                        <a:t>79.58 %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0233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606060"/>
                </a:solidFill>
                <a:latin typeface="Calibri"/>
              </a:rPr>
              <a:t>All 10 pairwise differences statistically significant (McNemar + Holm-Bonferroni, p &lt; 0.05)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66344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700" b="1">
                <a:solidFill>
                  <a:srgbClr val="E76F51"/>
                </a:solidFill>
                <a:latin typeface="Calibri"/>
              </a:rPr>
              <a:t>The MLP wins on accuracy - but that is only half the story.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21208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>
                <a:solidFill>
                  <a:srgbClr val="606060"/>
                </a:solidFill>
                <a:latin typeface="Calibri"/>
              </a:rPr>
              <a:t>-&gt; the other half is on the next slide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06060"/>
                </a:solidFill>
                <a:latin typeface="Calibri"/>
              </a:rPr>
              <a:t>UCI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457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64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Novel contribution:  tau-robustness margin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188720"/>
            <a:ext cx="10881360" cy="0"/>
          </a:xfrm>
          <a:prstGeom prst="line">
            <a:avLst/>
          </a:prstGeom>
          <a:ln w="31750">
            <a:solidFill>
              <a:srgbClr val="E9C4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137160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9C46A"/>
                </a:solidFill>
                <a:latin typeface="Calibri"/>
              </a:rPr>
              <a:t>The gap in prior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97280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F4F1DE"/>
                </a:solidFill>
                <a:latin typeface="Calibri"/>
              </a:rPr>
              <a:t>Every existing paper on this benchmark reports only classification accuracy.  But a grid operator needs to know how much they can trust the model's decision.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089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9C46A"/>
                </a:solidFill>
                <a:latin typeface="Calibri"/>
              </a:rPr>
              <a:t>What we defined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6616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F4F1DE"/>
                </a:solidFill>
                <a:latin typeface="Calibri"/>
              </a:rPr>
              <a:t>•  For each correctly-classified test point, find the smallest tau-perturbation that flips the model's prediction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F4F1DE"/>
                </a:solidFill>
                <a:latin typeface="Calibri"/>
              </a:rPr>
              <a:t>•  Binary search over 16 sign patterns on tau1..tau4  (L_inf norm)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F4F1DE"/>
                </a:solidFill>
                <a:latin typeface="Calibri"/>
              </a:rPr>
              <a:t>•  Clipped to the simulation range [0.5, 10] seconds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F4F1DE"/>
                </a:solidFill>
                <a:latin typeface="Calibri"/>
              </a:rPr>
              <a:t>•  Result: a per-sample safety buffer in seconds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521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>
                <a:solidFill>
                  <a:srgbClr val="E9C46A"/>
                </a:solidFill>
                <a:latin typeface="Calibri"/>
              </a:rPr>
              <a:t>Larger margin  =  the classifier's decision survives more consumer reaction-time degradation before it flips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06060"/>
                </a:solidFill>
                <a:latin typeface="Calibri"/>
              </a:rPr>
              <a:t>Novelty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457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264653"/>
                </a:solidFill>
                <a:latin typeface="Calibri"/>
              </a:rPr>
              <a:t>Key insight:  accuracy  !=  robustness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188720"/>
            <a:ext cx="10881360" cy="0"/>
          </a:xfrm>
          <a:prstGeom prst="line">
            <a:avLst/>
          </a:prstGeom>
          <a:ln w="3175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02_margin_per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5943600" cy="2971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0" y="146304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76F51"/>
                </a:solidFill>
                <a:latin typeface="Calibri"/>
              </a:rPr>
              <a:t>What the numbers show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011680"/>
            <a:ext cx="5212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>
                <a:solidFill>
                  <a:srgbClr val="264653"/>
                </a:solidFill>
                <a:latin typeface="Calibri"/>
              </a:rPr>
              <a:t>•  MLP  =  best accuracy  (96.05 %)  but tightest tau-margin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264653"/>
                </a:solidFill>
                <a:latin typeface="Calibri"/>
              </a:rPr>
              <a:t>•  LogReg  =  lowest accuracy  (81.5 %)  but LARGEST margin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264653"/>
                </a:solidFill>
                <a:latin typeface="Calibri"/>
              </a:rPr>
              <a:t>•  So 'more accurate' does not mean 'more deployable'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264653"/>
                </a:solidFill>
                <a:latin typeface="Calibri"/>
              </a:rPr>
              <a:t>•  Prior accuracy-only reports hide this trade-off completely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3504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E76F51"/>
                </a:solidFill>
                <a:latin typeface="Calibri"/>
              </a:rPr>
              <a:t>This is the publishable insight of the CSE-side work.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06060"/>
                </a:solidFill>
                <a:latin typeface="Calibri"/>
              </a:rPr>
              <a:t>Novelty - insight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457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264653"/>
                </a:solidFill>
                <a:latin typeface="Calibri"/>
              </a:rPr>
              <a:t>Part 2  -  Synthetic Bangladesh microgrid dataset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188720"/>
            <a:ext cx="10881360" cy="0"/>
          </a:xfrm>
          <a:prstGeom prst="line">
            <a:avLst/>
          </a:prstGeom>
          <a:ln w="3175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137160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2A9D8F"/>
                </a:solidFill>
                <a:latin typeface="Calibri"/>
              </a:rPr>
              <a:t>Why synthetic?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264653"/>
                </a:solidFill>
                <a:latin typeface="Calibri"/>
              </a:rPr>
              <a:t>•  The CSE side needed a dataset with a time axis and richer features (THD, frequency, storage state, weather, load)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264653"/>
                </a:solidFill>
                <a:latin typeface="Calibri"/>
              </a:rPr>
              <a:t>•  Real datasets with all that in one place are hard to get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264653"/>
                </a:solidFill>
                <a:latin typeface="Calibri"/>
              </a:rPr>
              <a:t>•  So a physics-informed synthetic dataset was generated to test the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840480"/>
            <a:ext cx="10881360" cy="1280160"/>
          </a:xfrm>
          <a:prstGeom prst="roundRect">
            <a:avLst/>
          </a:prstGeom>
          <a:solidFill>
            <a:srgbClr val="E76F51"/>
          </a:solidFill>
          <a:ln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l"/>
            <a:r>
              <a:rPr sz="1500" b="1">
                <a:solidFill>
                  <a:srgbClr val="FFFFFF"/>
                </a:solidFill>
              </a:rPr>
              <a:t>IMPORTANT  -  synthetic data is for pipeline testing only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  •  Every row has  source = SYNTHETIC_GENERATOR_v1  watermark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  •  Before publication, real Simulink output from the IEEE 14-bus model will replace this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949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2A9D8F"/>
                </a:solidFill>
                <a:latin typeface="Calibri"/>
              </a:rPr>
              <a:t>Dataset:  50,000 rows  x  50 columns  |  10 operating scenarios  |  34-day span at 1-sample-per-minute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06060"/>
                </a:solidFill>
                <a:latin typeface="Calibri"/>
              </a:rPr>
              <a:t>Synthetic dataset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457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264653"/>
                </a:solidFill>
                <a:latin typeface="Calibri"/>
              </a:rPr>
              <a:t>Synthetic dataset  -  50 columns of physics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188720"/>
            <a:ext cx="10881360" cy="0"/>
          </a:xfrm>
          <a:prstGeom prst="line">
            <a:avLst/>
          </a:prstGeom>
          <a:ln w="3175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146304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>
                <a:solidFill>
                  <a:srgbClr val="264653"/>
                </a:solidFill>
                <a:latin typeface="Calibri"/>
              </a:rPr>
              <a:t>•  Time (3):    timestamp, hour_of_day, day_of_year</a:t>
            </a:r>
          </a:p>
          <a:p>
            <a:pPr algn="l">
              <a:spcAft>
                <a:spcPts val="800"/>
              </a:spcAft>
            </a:pPr>
            <a:r>
              <a:rPr sz="1200">
                <a:solidFill>
                  <a:srgbClr val="264653"/>
                </a:solidFill>
                <a:latin typeface="Calibri"/>
              </a:rPr>
              <a:t>•  Environment (4):    irradiance, temp, humidity, wind_speed</a:t>
            </a:r>
          </a:p>
          <a:p>
            <a:pPr algn="l">
              <a:spcAft>
                <a:spcPts val="800"/>
              </a:spcAft>
            </a:pPr>
            <a:r>
              <a:rPr sz="1200">
                <a:solidFill>
                  <a:srgbClr val="264653"/>
                </a:solidFill>
                <a:latin typeface="Calibri"/>
              </a:rPr>
              <a:t>•  Voltage (4):    V_rms_a/b/c, V_unbalance_pct</a:t>
            </a:r>
          </a:p>
          <a:p>
            <a:pPr algn="l">
              <a:spcAft>
                <a:spcPts val="800"/>
              </a:spcAft>
            </a:pPr>
            <a:r>
              <a:rPr sz="1200">
                <a:solidFill>
                  <a:srgbClr val="264653"/>
                </a:solidFill>
                <a:latin typeface="Calibri"/>
              </a:rPr>
              <a:t>•  Current (4):    I_rms_a/b/c, I_neutral</a:t>
            </a:r>
          </a:p>
          <a:p>
            <a:pPr algn="l">
              <a:spcAft>
                <a:spcPts val="800"/>
              </a:spcAft>
            </a:pPr>
            <a:r>
              <a:rPr sz="1200">
                <a:solidFill>
                  <a:srgbClr val="264653"/>
                </a:solidFill>
                <a:latin typeface="Calibri"/>
              </a:rPr>
              <a:t>•  Power (4):    P_active, Q_reactive, S_apparent, PF</a:t>
            </a:r>
          </a:p>
          <a:p>
            <a:pPr algn="l">
              <a:spcAft>
                <a:spcPts val="800"/>
              </a:spcAft>
            </a:pPr>
            <a:r>
              <a:rPr sz="1200">
                <a:solidFill>
                  <a:srgbClr val="264653"/>
                </a:solidFill>
                <a:latin typeface="Calibri"/>
              </a:rPr>
              <a:t>•  Frequency (3):    freq_Hz, freq_dev, RoCoF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46304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>
                <a:solidFill>
                  <a:srgbClr val="264653"/>
                </a:solidFill>
                <a:latin typeface="Calibri"/>
              </a:rPr>
              <a:t>•  Harmonics (6):    V-THD, I-THD, 5th, 7th, 11th, 13th</a:t>
            </a:r>
          </a:p>
          <a:p>
            <a:pPr algn="l">
              <a:spcAft>
                <a:spcPts val="800"/>
              </a:spcAft>
            </a:pPr>
            <a:r>
              <a:rPr sz="1200">
                <a:solidFill>
                  <a:srgbClr val="264653"/>
                </a:solidFill>
                <a:latin typeface="Calibri"/>
              </a:rPr>
              <a:t>•  Renewables (3):    PV_kW, wind_kW, RE_penetration</a:t>
            </a:r>
          </a:p>
          <a:p>
            <a:pPr algn="l">
              <a:spcAft>
                <a:spcPts val="800"/>
              </a:spcAft>
            </a:pPr>
            <a:r>
              <a:rPr sz="1200">
                <a:solidFill>
                  <a:srgbClr val="264653"/>
                </a:solidFill>
                <a:latin typeface="Calibri"/>
              </a:rPr>
              <a:t>•  Storage (6):    SOC, SOH, V, I, T, P</a:t>
            </a:r>
          </a:p>
          <a:p>
            <a:pPr algn="l">
              <a:spcAft>
                <a:spcPts val="800"/>
              </a:spcAft>
            </a:pPr>
            <a:r>
              <a:rPr sz="1200">
                <a:solidFill>
                  <a:srgbClr val="264653"/>
                </a:solidFill>
                <a:latin typeface="Calibri"/>
              </a:rPr>
              <a:t>•  Load (2):    load_kW, nonlinear_load_frac</a:t>
            </a:r>
          </a:p>
          <a:p>
            <a:pPr algn="l">
              <a:spcAft>
                <a:spcPts val="800"/>
              </a:spcAft>
            </a:pPr>
            <a:r>
              <a:rPr sz="1200">
                <a:solidFill>
                  <a:srgbClr val="264653"/>
                </a:solidFill>
                <a:latin typeface="Calibri"/>
              </a:rPr>
              <a:t>•  Mode flags (5):    grid_connected, APF, ESS, AI, fault</a:t>
            </a:r>
          </a:p>
          <a:p>
            <a:pPr algn="l">
              <a:spcAft>
                <a:spcPts val="800"/>
              </a:spcAft>
            </a:pPr>
            <a:r>
              <a:rPr sz="1200">
                <a:solidFill>
                  <a:srgbClr val="264653"/>
                </a:solidFill>
                <a:latin typeface="Calibri"/>
              </a:rPr>
              <a:t>•  Labels + economics + watermark (7)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4864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Calibri"/>
              </a:rPr>
              <a:t>Physical relationships built in (not independent noise):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852160"/>
            <a:ext cx="109728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06060"/>
                </a:solidFill>
                <a:latin typeface="Calibri"/>
              </a:rPr>
              <a:t>PV = f(irradiance, NOCT temp)  |  wind = f(speed^3)  |  V-THD grows with RE-penetration &amp; nonlinear-load  |  battery T rises with I-THD^2  |  IEEE 519 verdict from V-THD + I-THD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06060"/>
                </a:solidFill>
                <a:latin typeface="Calibri"/>
              </a:rPr>
              <a:t>Synthetic schema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457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264653"/>
                </a:solidFill>
                <a:latin typeface="Calibri"/>
              </a:rPr>
              <a:t>IEEE 519 compliance classifier  (3-class)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188720"/>
            <a:ext cx="10881360" cy="0"/>
          </a:xfrm>
          <a:prstGeom prst="line">
            <a:avLst/>
          </a:prstGeom>
          <a:ln w="3175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1371600"/>
            <a:ext cx="109728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264653"/>
                </a:solidFill>
                <a:latin typeface="Calibri"/>
              </a:rPr>
              <a:t>Predict PASS / MARGINAL / FAIL from OPERATIONAL SIGNALS ALONE (V-THD and harmonics are dropped to avoid trivial prediction)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286000"/>
          <a:ext cx="56692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Macro-F1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FAIL-F1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XGBoost (winner)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99.82 %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99.55 %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99.28 %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99.81 %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99.41 %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98.86 %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HistGB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99.79 %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99.36 %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98.79 %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99.67 %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98.90 %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97.81 %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MLP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99.18 %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97.20 %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94.41 %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01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103120"/>
            <a:ext cx="5029200" cy="41148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" y="4937760"/>
            <a:ext cx="10881360" cy="1280160"/>
          </a:xfrm>
          <a:prstGeom prst="roundRect">
            <a:avLst/>
          </a:prstGeom>
          <a:solidFill>
            <a:srgbClr val="E76F51"/>
          </a:solidFill>
          <a:ln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l"/>
            <a:r>
              <a:rPr sz="1400" b="1">
                <a:solidFill>
                  <a:srgbClr val="FFFFFF"/>
                </a:solidFill>
              </a:rPr>
              <a:t>Honest note  -  these numbers are too clean to be real</a:t>
            </a:r>
          </a:p>
          <a:p>
            <a:r>
              <a:rPr sz="1100">
                <a:solidFill>
                  <a:srgbClr val="FFFFFF"/>
                </a:solidFill>
              </a:rPr>
              <a:t>The synthetic physics is deterministic.  Once real Simulink data replaces the synthetic set, accuracies will drop into the 85-92 % range - a much more publishable story.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06060"/>
                </a:solidFill>
                <a:latin typeface="Calibri"/>
              </a:rPr>
              <a:t>Compliance classifier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457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264653"/>
                </a:solidFill>
                <a:latin typeface="Calibri"/>
              </a:rPr>
              <a:t>Multi-horizon V-THD forecasting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188720"/>
            <a:ext cx="10881360" cy="0"/>
          </a:xfrm>
          <a:prstGeom prst="line">
            <a:avLst/>
          </a:prstGeom>
          <a:ln w="3175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137160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64653"/>
                </a:solidFill>
                <a:latin typeface="Calibri"/>
              </a:rPr>
              <a:t>Predict V-THD at 5, 15, and 30 minutes ahead using a 30-minute lookback of 27 operational signals.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94560"/>
          <a:ext cx="5943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188720"/>
                <a:gridCol w="1188720"/>
                <a:gridCol w="118872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RMSE (5 min)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MAE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R^2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Early-warn F1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Persistence (naive)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1.50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1.17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-0.67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0.088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MLP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1.07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0.84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+0.15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LSTM (winner)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1.06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+0.16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GRU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1.07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+0.16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02_RMSE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011680"/>
            <a:ext cx="4937760" cy="2468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38912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2A9D8F"/>
                </a:solidFill>
                <a:latin typeface="Calibri"/>
              </a:rPr>
              <a:t>Two findings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75488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>
                <a:solidFill>
                  <a:srgbClr val="264653"/>
                </a:solidFill>
                <a:latin typeface="Calibri"/>
              </a:rPr>
              <a:t>•  Good: LSTM / GRU / MLP all beat persistence by ~30 % on RMSE  -  the pipeline extracts real signal</a:t>
            </a:r>
          </a:p>
          <a:p>
            <a:pPr algn="l">
              <a:spcAft>
                <a:spcPts val="800"/>
              </a:spcAft>
            </a:pPr>
            <a:r>
              <a:rPr sz="1200">
                <a:solidFill>
                  <a:srgbClr val="264653"/>
                </a:solidFill>
                <a:latin typeface="Calibri"/>
              </a:rPr>
              <a:t>•  Honest: early-warning F1 = 0 because breaches are only 2 %; MSE loss pushes predictions toward the mean.  Next: reframe as binary breach classification with class-weighted loss.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06060"/>
                </a:solidFill>
                <a:latin typeface="Calibri"/>
              </a:rPr>
              <a:t>Forecasting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457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264653"/>
                </a:solidFill>
                <a:latin typeface="Calibri"/>
              </a:rPr>
              <a:t>EEE-side physics simulation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188720"/>
            <a:ext cx="10881360" cy="0"/>
          </a:xfrm>
          <a:prstGeom prst="line">
            <a:avLst/>
          </a:prstGeom>
          <a:ln w="3175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137160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2A9D8F"/>
                </a:solidFill>
                <a:latin typeface="Calibri"/>
              </a:rPr>
              <a:t>Bangladesh microgrid digital twin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264653"/>
                </a:solidFill>
                <a:latin typeface="Calibri"/>
              </a:rPr>
              <a:t>•  3-phase 50 Hz / 230 V source  +  6-pulse rectifier nonlinear load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264653"/>
                </a:solidFill>
                <a:latin typeface="Calibri"/>
              </a:rPr>
              <a:t>•  SRF (synchronous reference frame) Active Power Filter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264653"/>
                </a:solidFill>
                <a:latin typeface="Calibri"/>
              </a:rPr>
              <a:t>•  FFT-based THD analyzer over a 5-cycle window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264653"/>
                </a:solidFill>
                <a:latin typeface="Calibri"/>
              </a:rPr>
              <a:t>•  Battery-degradation twin  -&gt;  Bangladesh Taka annualised cost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264653"/>
                </a:solidFill>
                <a:latin typeface="Calibri"/>
              </a:rPr>
              <a:t>•  Runs in both MATLAB Simulink AND Python (identical math)</a:t>
            </a:r>
          </a:p>
        </p:txBody>
      </p:sp>
      <p:pic>
        <p:nvPicPr>
          <p:cNvPr id="7" name="Picture 6" descr="02_thd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114800"/>
            <a:ext cx="5852160" cy="2340864"/>
          </a:xfrm>
          <a:prstGeom prst="rect">
            <a:avLst/>
          </a:prstGeom>
        </p:spPr>
      </p:pic>
      <p:pic>
        <p:nvPicPr>
          <p:cNvPr id="8" name="Picture 7" descr="04_spectrum_before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4114800"/>
            <a:ext cx="5212080" cy="20848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E76F51"/>
                </a:solidFill>
                <a:latin typeface="Calibri"/>
              </a:rPr>
              <a:t>Headline result:  THD_i  27.13 %  -&gt;  2.07 %  when the APF turns 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06060"/>
                </a:solidFill>
                <a:latin typeface="Calibri"/>
              </a:rPr>
              <a:t>EEE simulation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457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64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How the two halves meet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188720"/>
            <a:ext cx="10881360" cy="0"/>
          </a:xfrm>
          <a:prstGeom prst="line">
            <a:avLst/>
          </a:prstGeom>
          <a:ln w="31750">
            <a:solidFill>
              <a:srgbClr val="E9C4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1554480"/>
            <a:ext cx="1097280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700" b="0">
                <a:solidFill>
                  <a:srgbClr val="F4F1DE"/>
                </a:solidFill>
                <a:latin typeface="Calibri"/>
              </a:rPr>
              <a:t>The EEE compliance table has a scenario called "AI-Optimized Control" that achieves the lowest THD at the highest renewable penetration.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E9C46A"/>
                </a:solidFill>
                <a:latin typeface="Calibri"/>
              </a:rPr>
              <a:t>That AI is the CSE side's trained ML model.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>
                <a:solidFill>
                  <a:srgbClr val="F4F1DE"/>
                </a:solidFill>
                <a:latin typeface="Calibri"/>
              </a:rPr>
              <a:t>•  Without the bridge  =  two separate boring papers (ML paper + power-systems paper)</a:t>
            </a:r>
          </a:p>
          <a:p>
            <a:pPr algn="l">
              <a:spcAft>
                <a:spcPts val="1200"/>
              </a:spcAft>
            </a:pPr>
            <a:r>
              <a:rPr sz="1400">
                <a:solidFill>
                  <a:srgbClr val="F4F1DE"/>
                </a:solidFill>
                <a:latin typeface="Calibri"/>
              </a:rPr>
              <a:t>•  With the bridge  =  one interdisciplinary paper where the ML controls the physical microgrid</a:t>
            </a:r>
          </a:p>
          <a:p>
            <a:pPr algn="l">
              <a:spcAft>
                <a:spcPts val="1200"/>
              </a:spcAft>
            </a:pPr>
            <a:r>
              <a:rPr sz="1400">
                <a:solidFill>
                  <a:srgbClr val="F4F1DE"/>
                </a:solidFill>
                <a:latin typeface="Calibri"/>
              </a:rPr>
              <a:t>•  This is what makes the work suitable for a Q1 venue rather than two lower-tier 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06060"/>
                </a:solidFill>
                <a:latin typeface="Calibri"/>
              </a:rPr>
              <a:t>Interdisciplinary bridge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457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264653"/>
                </a:solidFill>
                <a:latin typeface="Calibri"/>
              </a:rPr>
              <a:t>Honesty notes  -  what we do NOT claim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188720"/>
            <a:ext cx="10881360" cy="0"/>
          </a:xfrm>
          <a:prstGeom prst="line">
            <a:avLst/>
          </a:prstGeom>
          <a:ln w="3175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137160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06060"/>
                </a:solidFill>
                <a:latin typeface="Calibri"/>
              </a:rPr>
              <a:t>Every claim is bounded up-front so no reviewer can accuse the paper of overreach.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>
                <a:solidFill>
                  <a:srgbClr val="264653"/>
                </a:solidFill>
                <a:latin typeface="Calibri"/>
              </a:rPr>
              <a:t>•  UCI Grid is static configurations, not time series - we do NOT claim 'early warning' prediction on it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264653"/>
                </a:solidFill>
                <a:latin typeface="Calibri"/>
              </a:rPr>
              <a:t>•  Results are not claimed to transfer directly to real PMU / SCADA data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264653"/>
                </a:solidFill>
                <a:latin typeface="Calibri"/>
              </a:rPr>
              <a:t>•  tau-robustness margin is a property of the classifier's decision, not a guarantee about the physical grid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264653"/>
                </a:solidFill>
                <a:latin typeface="Calibri"/>
              </a:rPr>
              <a:t>•  Synthetic dataset carries a source watermark and cannot be used as evidence in publication tables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264653"/>
                </a:solidFill>
                <a:latin typeface="Calibri"/>
              </a:rPr>
              <a:t>•  Point-forecast MSE + 2 % breach rate has known early-warning limitations - documented, not hidden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521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E76F51"/>
                </a:solidFill>
                <a:latin typeface="Calibri"/>
              </a:rPr>
              <a:t>Faisal Sir's Bangla research-integrity announcement explicitly listed Fabricated Data - so we watermark, disclose, and plan to replace synthetic with real Simulink output.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06060"/>
                </a:solidFill>
                <a:latin typeface="Calibri"/>
              </a:rPr>
              <a:t>Honesty notes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457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264653"/>
                </a:solidFill>
                <a:latin typeface="Calibri"/>
              </a:rPr>
              <a:t>What still needs to happen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188720"/>
            <a:ext cx="10881360" cy="0"/>
          </a:xfrm>
          <a:prstGeom prst="line">
            <a:avLst/>
          </a:prstGeom>
          <a:ln w="3175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2A9D8F"/>
                </a:solidFill>
                <a:latin typeface="Calibri"/>
              </a:rPr>
              <a:t>CSE-side 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>
                <a:solidFill>
                  <a:srgbClr val="264653"/>
                </a:solidFill>
                <a:latin typeface="Calibri"/>
              </a:rPr>
              <a:t>•  Class-weighted or binary reformulation of the forecaster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264653"/>
                </a:solidFill>
                <a:latin typeface="Calibri"/>
              </a:rPr>
              <a:t>•  Multi-seed + bootstrap CI on all forecasting numbers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264653"/>
                </a:solidFill>
                <a:latin typeface="Calibri"/>
              </a:rPr>
              <a:t>•  Reproducibility audit for the synthetic-data side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264653"/>
                </a:solidFill>
                <a:latin typeface="Calibri"/>
              </a:rPr>
              <a:t>•  Draft the LaTeX manuscript from PAPER_OUTLINE.md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49039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76F51"/>
                </a:solidFill>
                <a:latin typeface="Calibri"/>
              </a:rPr>
              <a:t>EEE-side next 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0624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>
                <a:solidFill>
                  <a:srgbClr val="264653"/>
                </a:solidFill>
                <a:latin typeface="Calibri"/>
              </a:rPr>
              <a:t>•  Finish the IEEE 14-bus parametric-study Simulink runs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264653"/>
                </a:solidFill>
                <a:latin typeface="Calibri"/>
              </a:rPr>
              <a:t>•  Formal Schafer 2016 reproduction on the 4-bus model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264653"/>
                </a:solidFill>
                <a:latin typeface="Calibri"/>
              </a:rPr>
              <a:t>•  Complete the AI Forecasting Performance and EMS Optimisation sheets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264653"/>
                </a:solidFill>
                <a:latin typeface="Calibri"/>
              </a:rPr>
              <a:t>•  Send real .slx output files to the CSE side to replace synthetic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06060"/>
                </a:solidFill>
                <a:latin typeface="Calibri"/>
              </a:rPr>
              <a:t>Gaps and TODO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457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64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2377440"/>
            <a:ext cx="137160" cy="201168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97280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Thanks  -  questions welcome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0">
                <a:solidFill>
                  <a:srgbClr val="2A9D8F"/>
                </a:solidFill>
                <a:latin typeface="Consolas"/>
              </a:rPr>
              <a:t>Repo:  github.com/Fahmidaca/microgrid-dt-1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E9C46A"/>
                </a:solidFill>
                <a:latin typeface="Calibri"/>
              </a:rPr>
              <a:t>Target venues:  IEEE Trans. Smart Grid (Q1, IF~10)  |  Applied Energy (Q1, IF~11)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9377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4F1DE"/>
                </a:solidFill>
                <a:latin typeface="Calibri"/>
              </a:rPr>
              <a:t>Every folder in the repo has a README explaining what it contains and how to reproduce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